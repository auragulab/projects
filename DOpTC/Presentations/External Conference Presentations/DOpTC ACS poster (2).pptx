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43891200" cy="32918400"/>
  <p:notesSz cx="5800725" cy="9094788"/>
  <p:defaultTextStyle>
    <a:defPPr>
      <a:defRPr lang="en-US"/>
    </a:defPPr>
    <a:lvl1pPr algn="l" rtl="0" fontAlgn="base">
      <a:spcBef>
        <a:spcPct val="0"/>
      </a:spcBef>
      <a:spcAft>
        <a:spcPct val="0"/>
      </a:spcAft>
      <a:defRPr sz="9300" kern="1200">
        <a:solidFill>
          <a:schemeClr val="tx1"/>
        </a:solidFill>
        <a:latin typeface="Arial" charset="0"/>
        <a:ea typeface="+mn-ea"/>
        <a:cs typeface="+mn-cs"/>
      </a:defRPr>
    </a:lvl1pPr>
    <a:lvl2pPr marL="457200" algn="l" rtl="0" fontAlgn="base">
      <a:spcBef>
        <a:spcPct val="0"/>
      </a:spcBef>
      <a:spcAft>
        <a:spcPct val="0"/>
      </a:spcAft>
      <a:defRPr sz="9300" kern="1200">
        <a:solidFill>
          <a:schemeClr val="tx1"/>
        </a:solidFill>
        <a:latin typeface="Arial" charset="0"/>
        <a:ea typeface="+mn-ea"/>
        <a:cs typeface="+mn-cs"/>
      </a:defRPr>
    </a:lvl2pPr>
    <a:lvl3pPr marL="914400" algn="l" rtl="0" fontAlgn="base">
      <a:spcBef>
        <a:spcPct val="0"/>
      </a:spcBef>
      <a:spcAft>
        <a:spcPct val="0"/>
      </a:spcAft>
      <a:defRPr sz="9300" kern="1200">
        <a:solidFill>
          <a:schemeClr val="tx1"/>
        </a:solidFill>
        <a:latin typeface="Arial" charset="0"/>
        <a:ea typeface="+mn-ea"/>
        <a:cs typeface="+mn-cs"/>
      </a:defRPr>
    </a:lvl3pPr>
    <a:lvl4pPr marL="1371600" algn="l" rtl="0" fontAlgn="base">
      <a:spcBef>
        <a:spcPct val="0"/>
      </a:spcBef>
      <a:spcAft>
        <a:spcPct val="0"/>
      </a:spcAft>
      <a:defRPr sz="9300" kern="1200">
        <a:solidFill>
          <a:schemeClr val="tx1"/>
        </a:solidFill>
        <a:latin typeface="Arial" charset="0"/>
        <a:ea typeface="+mn-ea"/>
        <a:cs typeface="+mn-cs"/>
      </a:defRPr>
    </a:lvl4pPr>
    <a:lvl5pPr marL="1828800" algn="l" rtl="0" fontAlgn="base">
      <a:spcBef>
        <a:spcPct val="0"/>
      </a:spcBef>
      <a:spcAft>
        <a:spcPct val="0"/>
      </a:spcAft>
      <a:defRPr sz="9300" kern="1200">
        <a:solidFill>
          <a:schemeClr val="tx1"/>
        </a:solidFill>
        <a:latin typeface="Arial" charset="0"/>
        <a:ea typeface="+mn-ea"/>
        <a:cs typeface="+mn-cs"/>
      </a:defRPr>
    </a:lvl5pPr>
    <a:lvl6pPr marL="2286000" algn="l" defTabSz="914400" rtl="0" eaLnBrk="1" latinLnBrk="0" hangingPunct="1">
      <a:defRPr sz="9300" kern="1200">
        <a:solidFill>
          <a:schemeClr val="tx1"/>
        </a:solidFill>
        <a:latin typeface="Arial" charset="0"/>
        <a:ea typeface="+mn-ea"/>
        <a:cs typeface="+mn-cs"/>
      </a:defRPr>
    </a:lvl6pPr>
    <a:lvl7pPr marL="2743200" algn="l" defTabSz="914400" rtl="0" eaLnBrk="1" latinLnBrk="0" hangingPunct="1">
      <a:defRPr sz="9300" kern="1200">
        <a:solidFill>
          <a:schemeClr val="tx1"/>
        </a:solidFill>
        <a:latin typeface="Arial" charset="0"/>
        <a:ea typeface="+mn-ea"/>
        <a:cs typeface="+mn-cs"/>
      </a:defRPr>
    </a:lvl7pPr>
    <a:lvl8pPr marL="3200400" algn="l" defTabSz="914400" rtl="0" eaLnBrk="1" latinLnBrk="0" hangingPunct="1">
      <a:defRPr sz="9300" kern="1200">
        <a:solidFill>
          <a:schemeClr val="tx1"/>
        </a:solidFill>
        <a:latin typeface="Arial" charset="0"/>
        <a:ea typeface="+mn-ea"/>
        <a:cs typeface="+mn-cs"/>
      </a:defRPr>
    </a:lvl8pPr>
    <a:lvl9pPr marL="3657600" algn="l" defTabSz="914400" rtl="0" eaLnBrk="1" latinLnBrk="0" hangingPunct="1">
      <a:defRPr sz="93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E78"/>
    <a:srgbClr val="0066FF"/>
    <a:srgbClr val="DCE8F4"/>
    <a:srgbClr val="FFCCCC"/>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14970E-1C79-ACDD-3327-1B8DBCBAC507}" v="2987" dt="2026-03-17T17:54:37.681"/>
    <p1510:client id="{B1AA0678-1C30-E83F-158D-29A2AF2869CA}" v="1284" dt="2026-03-16T11:26:32.661"/>
  </p1510:revLst>
</p1510:revInfo>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7471" autoAdjust="0"/>
    <p:restoredTop sz="94660"/>
  </p:normalViewPr>
  <p:slideViewPr>
    <p:cSldViewPr snapToGrid="0">
      <p:cViewPr varScale="1">
        <p:scale>
          <a:sx n="17" d="100"/>
          <a:sy n="17" d="100"/>
        </p:scale>
        <p:origin x="984" y="125"/>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513013" cy="4540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286125" y="0"/>
            <a:ext cx="2513013" cy="454025"/>
          </a:xfrm>
          <a:prstGeom prst="rect">
            <a:avLst/>
          </a:prstGeom>
        </p:spPr>
        <p:txBody>
          <a:bodyPr vert="horz" lIns="91440" tIns="45720" rIns="91440" bIns="45720" rtlCol="0"/>
          <a:lstStyle>
            <a:lvl1pPr algn="r">
              <a:defRPr sz="1200"/>
            </a:lvl1pPr>
          </a:lstStyle>
          <a:p>
            <a:fld id="{E5BC6064-BC8B-436B-96A8-13E616EE237F}" type="datetimeFigureOut">
              <a:rPr lang="en-US" smtClean="0"/>
              <a:pPr/>
              <a:t>3/19/2026</a:t>
            </a:fld>
            <a:endParaRPr lang="en-US"/>
          </a:p>
        </p:txBody>
      </p:sp>
      <p:sp>
        <p:nvSpPr>
          <p:cNvPr id="4" name="Slide Image Placeholder 3"/>
          <p:cNvSpPr>
            <a:spLocks noGrp="1" noRot="1" noChangeAspect="1"/>
          </p:cNvSpPr>
          <p:nvPr>
            <p:ph type="sldImg" idx="2"/>
          </p:nvPr>
        </p:nvSpPr>
        <p:spPr>
          <a:xfrm>
            <a:off x="627063" y="682625"/>
            <a:ext cx="4546600" cy="34099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79438" y="4319588"/>
            <a:ext cx="4641850" cy="40925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39175"/>
            <a:ext cx="2513013" cy="4540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286125" y="8639175"/>
            <a:ext cx="2513013" cy="454025"/>
          </a:xfrm>
          <a:prstGeom prst="rect">
            <a:avLst/>
          </a:prstGeom>
        </p:spPr>
        <p:txBody>
          <a:bodyPr vert="horz" lIns="91440" tIns="45720" rIns="91440" bIns="45720" rtlCol="0" anchor="b"/>
          <a:lstStyle>
            <a:lvl1pPr algn="r">
              <a:defRPr sz="1200"/>
            </a:lvl1pPr>
          </a:lstStyle>
          <a:p>
            <a:fld id="{4292A4A7-F423-4B5C-AD95-4BD5E4B969CD}" type="slidenum">
              <a:rPr lang="en-US" smtClean="0"/>
              <a:pPr/>
              <a:t>‹#›</a:t>
            </a:fld>
            <a:endParaRPr lang="en-US"/>
          </a:p>
        </p:txBody>
      </p:sp>
    </p:spTree>
    <p:extLst>
      <p:ext uri="{BB962C8B-B14F-4D97-AF65-F5344CB8AC3E}">
        <p14:creationId xmlns:p14="http://schemas.microsoft.com/office/powerpoint/2010/main" val="1021317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292A4A7-F423-4B5C-AD95-4BD5E4B969CD}" type="slidenum">
              <a:rPr lang="en-US" smtClean="0"/>
              <a:pPr/>
              <a:t>1</a:t>
            </a:fld>
            <a:endParaRPr lang="en-US"/>
          </a:p>
        </p:txBody>
      </p:sp>
    </p:spTree>
    <p:extLst>
      <p:ext uri="{BB962C8B-B14F-4D97-AF65-F5344CB8AC3E}">
        <p14:creationId xmlns:p14="http://schemas.microsoft.com/office/powerpoint/2010/main" val="2554826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3A7D5DD-0EC2-4904-A0A8-7F49537B6BE1}"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E35FC0D-8602-4946-A8E9-A07ED91E329B}"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B7BE99E-2A37-4B6C-A38E-221A50E18612}"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3925" y="7680325"/>
            <a:ext cx="19675475" cy="21724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7680325"/>
            <a:ext cx="19675475" cy="21724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74E05D40-BC94-44CF-9C6E-DFBB82867E22}"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AD928F3B-B589-4B14-BFD2-F28F3CD6E8C6}"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E81DDD3D-53CB-4510-BB0D-27E0FFE1D494}"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A5BACCC7-24EC-46A8-A0EE-E9A195C16076}"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770C2C0-5B3A-4C4C-A728-2EF09BEBD77E}"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602663" y="25763538"/>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6812F73-3CB4-4459-981B-223D523071CB}"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D4BA081-667A-4FCF-A71E-CCC05845BC4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438" y="1317625"/>
            <a:ext cx="9875837" cy="280876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3925" y="1317625"/>
            <a:ext cx="29475113" cy="280876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BBB252B-B17E-4F2F-AD46-9C87A306C98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193925" y="1317625"/>
            <a:ext cx="39503350" cy="5486400"/>
          </a:xfrm>
          <a:prstGeom prst="rect">
            <a:avLst/>
          </a:prstGeom>
          <a:noFill/>
          <a:ln w="9525">
            <a:noFill/>
            <a:miter lim="800000"/>
            <a:headEnd/>
            <a:tailEnd/>
          </a:ln>
          <a:effectLst/>
        </p:spPr>
        <p:txBody>
          <a:bodyPr vert="horz" wrap="square" lIns="470258" tIns="235129" rIns="470258" bIns="235129"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193925" y="7680325"/>
            <a:ext cx="39503350" cy="21724938"/>
          </a:xfrm>
          <a:prstGeom prst="rect">
            <a:avLst/>
          </a:prstGeom>
          <a:noFill/>
          <a:ln w="9525">
            <a:noFill/>
            <a:miter lim="800000"/>
            <a:headEnd/>
            <a:tailEnd/>
          </a:ln>
          <a:effectLst/>
        </p:spPr>
        <p:txBody>
          <a:bodyPr vert="horz" wrap="square" lIns="470258" tIns="235129" rIns="470258" bIns="23512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193925" y="29976763"/>
            <a:ext cx="10242550" cy="2286000"/>
          </a:xfrm>
          <a:prstGeom prst="rect">
            <a:avLst/>
          </a:prstGeom>
          <a:noFill/>
          <a:ln w="9525">
            <a:noFill/>
            <a:miter lim="800000"/>
            <a:headEnd/>
            <a:tailEnd/>
          </a:ln>
          <a:effectLst/>
        </p:spPr>
        <p:txBody>
          <a:bodyPr vert="horz" wrap="square" lIns="470258" tIns="235129" rIns="470258" bIns="235129" numCol="1" anchor="t" anchorCtr="0" compatLnSpc="1">
            <a:prstTxWarp prst="textNoShape">
              <a:avLst/>
            </a:prstTxWarp>
          </a:bodyPr>
          <a:lstStyle>
            <a:lvl1pPr defTabSz="4702175">
              <a:defRPr sz="7200"/>
            </a:lvl1pPr>
          </a:lstStyle>
          <a:p>
            <a:endParaRPr lang="en-US"/>
          </a:p>
        </p:txBody>
      </p:sp>
      <p:sp>
        <p:nvSpPr>
          <p:cNvPr id="1029" name="Rectangle 5"/>
          <p:cNvSpPr>
            <a:spLocks noGrp="1" noChangeArrowheads="1"/>
          </p:cNvSpPr>
          <p:nvPr>
            <p:ph type="ftr" sz="quarter" idx="3"/>
          </p:nvPr>
        </p:nvSpPr>
        <p:spPr bwMode="auto">
          <a:xfrm>
            <a:off x="14995525" y="29976763"/>
            <a:ext cx="13900150" cy="2286000"/>
          </a:xfrm>
          <a:prstGeom prst="rect">
            <a:avLst/>
          </a:prstGeom>
          <a:noFill/>
          <a:ln w="9525">
            <a:noFill/>
            <a:miter lim="800000"/>
            <a:headEnd/>
            <a:tailEnd/>
          </a:ln>
          <a:effectLst/>
        </p:spPr>
        <p:txBody>
          <a:bodyPr vert="horz" wrap="square" lIns="470258" tIns="235129" rIns="470258" bIns="235129" numCol="1" anchor="t" anchorCtr="0" compatLnSpc="1">
            <a:prstTxWarp prst="textNoShape">
              <a:avLst/>
            </a:prstTxWarp>
          </a:bodyPr>
          <a:lstStyle>
            <a:lvl1pPr algn="ctr" defTabSz="4702175">
              <a:defRPr sz="7200"/>
            </a:lvl1pPr>
          </a:lstStyle>
          <a:p>
            <a:endParaRPr lang="en-US"/>
          </a:p>
        </p:txBody>
      </p:sp>
      <p:sp>
        <p:nvSpPr>
          <p:cNvPr id="1030" name="Rectangle 6"/>
          <p:cNvSpPr>
            <a:spLocks noGrp="1" noChangeArrowheads="1"/>
          </p:cNvSpPr>
          <p:nvPr>
            <p:ph type="sldNum" sz="quarter" idx="4"/>
          </p:nvPr>
        </p:nvSpPr>
        <p:spPr bwMode="auto">
          <a:xfrm>
            <a:off x="31454725" y="29976763"/>
            <a:ext cx="10242550" cy="2286000"/>
          </a:xfrm>
          <a:prstGeom prst="rect">
            <a:avLst/>
          </a:prstGeom>
          <a:noFill/>
          <a:ln w="9525">
            <a:noFill/>
            <a:miter lim="800000"/>
            <a:headEnd/>
            <a:tailEnd/>
          </a:ln>
          <a:effectLst/>
        </p:spPr>
        <p:txBody>
          <a:bodyPr vert="horz" wrap="square" lIns="470258" tIns="235129" rIns="470258" bIns="235129" numCol="1" anchor="t" anchorCtr="0" compatLnSpc="1">
            <a:prstTxWarp prst="textNoShape">
              <a:avLst/>
            </a:prstTxWarp>
          </a:bodyPr>
          <a:lstStyle>
            <a:lvl1pPr algn="r" defTabSz="4702175">
              <a:defRPr sz="7200"/>
            </a:lvl1pPr>
          </a:lstStyle>
          <a:p>
            <a:fld id="{7FA6A1F3-10EA-43F0-8CCC-9ECEEAEBC8B8}"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702175" rtl="0" fontAlgn="base">
        <a:spcBef>
          <a:spcPct val="0"/>
        </a:spcBef>
        <a:spcAft>
          <a:spcPct val="0"/>
        </a:spcAft>
        <a:defRPr sz="22600">
          <a:solidFill>
            <a:schemeClr val="tx2"/>
          </a:solidFill>
          <a:latin typeface="+mj-lt"/>
          <a:ea typeface="+mj-ea"/>
          <a:cs typeface="+mj-cs"/>
        </a:defRPr>
      </a:lvl1pPr>
      <a:lvl2pPr algn="ctr" defTabSz="4702175" rtl="0" fontAlgn="base">
        <a:spcBef>
          <a:spcPct val="0"/>
        </a:spcBef>
        <a:spcAft>
          <a:spcPct val="0"/>
        </a:spcAft>
        <a:defRPr sz="22600">
          <a:solidFill>
            <a:schemeClr val="tx2"/>
          </a:solidFill>
          <a:latin typeface="Arial" charset="0"/>
        </a:defRPr>
      </a:lvl2pPr>
      <a:lvl3pPr algn="ctr" defTabSz="4702175" rtl="0" fontAlgn="base">
        <a:spcBef>
          <a:spcPct val="0"/>
        </a:spcBef>
        <a:spcAft>
          <a:spcPct val="0"/>
        </a:spcAft>
        <a:defRPr sz="22600">
          <a:solidFill>
            <a:schemeClr val="tx2"/>
          </a:solidFill>
          <a:latin typeface="Arial" charset="0"/>
        </a:defRPr>
      </a:lvl3pPr>
      <a:lvl4pPr algn="ctr" defTabSz="4702175" rtl="0" fontAlgn="base">
        <a:spcBef>
          <a:spcPct val="0"/>
        </a:spcBef>
        <a:spcAft>
          <a:spcPct val="0"/>
        </a:spcAft>
        <a:defRPr sz="22600">
          <a:solidFill>
            <a:schemeClr val="tx2"/>
          </a:solidFill>
          <a:latin typeface="Arial" charset="0"/>
        </a:defRPr>
      </a:lvl4pPr>
      <a:lvl5pPr algn="ctr" defTabSz="4702175" rtl="0" fontAlgn="base">
        <a:spcBef>
          <a:spcPct val="0"/>
        </a:spcBef>
        <a:spcAft>
          <a:spcPct val="0"/>
        </a:spcAft>
        <a:defRPr sz="22600">
          <a:solidFill>
            <a:schemeClr val="tx2"/>
          </a:solidFill>
          <a:latin typeface="Arial" charset="0"/>
        </a:defRPr>
      </a:lvl5pPr>
      <a:lvl6pPr marL="457200" algn="ctr" defTabSz="4702175" rtl="0" fontAlgn="base">
        <a:spcBef>
          <a:spcPct val="0"/>
        </a:spcBef>
        <a:spcAft>
          <a:spcPct val="0"/>
        </a:spcAft>
        <a:defRPr sz="22600">
          <a:solidFill>
            <a:schemeClr val="tx2"/>
          </a:solidFill>
          <a:latin typeface="Arial" charset="0"/>
        </a:defRPr>
      </a:lvl6pPr>
      <a:lvl7pPr marL="914400" algn="ctr" defTabSz="4702175" rtl="0" fontAlgn="base">
        <a:spcBef>
          <a:spcPct val="0"/>
        </a:spcBef>
        <a:spcAft>
          <a:spcPct val="0"/>
        </a:spcAft>
        <a:defRPr sz="22600">
          <a:solidFill>
            <a:schemeClr val="tx2"/>
          </a:solidFill>
          <a:latin typeface="Arial" charset="0"/>
        </a:defRPr>
      </a:lvl7pPr>
      <a:lvl8pPr marL="1371600" algn="ctr" defTabSz="4702175" rtl="0" fontAlgn="base">
        <a:spcBef>
          <a:spcPct val="0"/>
        </a:spcBef>
        <a:spcAft>
          <a:spcPct val="0"/>
        </a:spcAft>
        <a:defRPr sz="22600">
          <a:solidFill>
            <a:schemeClr val="tx2"/>
          </a:solidFill>
          <a:latin typeface="Arial" charset="0"/>
        </a:defRPr>
      </a:lvl8pPr>
      <a:lvl9pPr marL="1828800" algn="ctr" defTabSz="4702175" rtl="0" fontAlgn="base">
        <a:spcBef>
          <a:spcPct val="0"/>
        </a:spcBef>
        <a:spcAft>
          <a:spcPct val="0"/>
        </a:spcAft>
        <a:defRPr sz="22600">
          <a:solidFill>
            <a:schemeClr val="tx2"/>
          </a:solidFill>
          <a:latin typeface="Arial" charset="0"/>
        </a:defRPr>
      </a:lvl9pPr>
    </p:titleStyle>
    <p:bodyStyle>
      <a:lvl1pPr marL="1763713" indent="-1763713" algn="l" defTabSz="4702175" rtl="0" fontAlgn="base">
        <a:spcBef>
          <a:spcPct val="20000"/>
        </a:spcBef>
        <a:spcAft>
          <a:spcPct val="0"/>
        </a:spcAft>
        <a:buChar char="•"/>
        <a:defRPr sz="16500">
          <a:solidFill>
            <a:schemeClr val="tx1"/>
          </a:solidFill>
          <a:latin typeface="+mn-lt"/>
          <a:ea typeface="+mn-ea"/>
          <a:cs typeface="+mn-cs"/>
        </a:defRPr>
      </a:lvl1pPr>
      <a:lvl2pPr marL="3821113" indent="-1470025" algn="l" defTabSz="4702175" rtl="0" fontAlgn="base">
        <a:spcBef>
          <a:spcPct val="20000"/>
        </a:spcBef>
        <a:spcAft>
          <a:spcPct val="0"/>
        </a:spcAft>
        <a:buChar char="–"/>
        <a:defRPr sz="14400">
          <a:solidFill>
            <a:schemeClr val="tx1"/>
          </a:solidFill>
          <a:latin typeface="+mn-lt"/>
        </a:defRPr>
      </a:lvl2pPr>
      <a:lvl3pPr marL="5878513" indent="-1176338" algn="l" defTabSz="4702175" rtl="0" fontAlgn="base">
        <a:spcBef>
          <a:spcPct val="20000"/>
        </a:spcBef>
        <a:spcAft>
          <a:spcPct val="0"/>
        </a:spcAft>
        <a:buChar char="•"/>
        <a:defRPr sz="12300">
          <a:solidFill>
            <a:schemeClr val="tx1"/>
          </a:solidFill>
          <a:latin typeface="+mn-lt"/>
        </a:defRPr>
      </a:lvl3pPr>
      <a:lvl4pPr marL="8229600" indent="-1176338" algn="l" defTabSz="4702175" rtl="0" fontAlgn="base">
        <a:spcBef>
          <a:spcPct val="20000"/>
        </a:spcBef>
        <a:spcAft>
          <a:spcPct val="0"/>
        </a:spcAft>
        <a:buChar char="–"/>
        <a:defRPr sz="10300">
          <a:solidFill>
            <a:schemeClr val="tx1"/>
          </a:solidFill>
          <a:latin typeface="+mn-lt"/>
        </a:defRPr>
      </a:lvl4pPr>
      <a:lvl5pPr marL="10580688" indent="-1174750" algn="l" defTabSz="4702175" rtl="0" fontAlgn="base">
        <a:spcBef>
          <a:spcPct val="20000"/>
        </a:spcBef>
        <a:spcAft>
          <a:spcPct val="0"/>
        </a:spcAft>
        <a:buChar char="»"/>
        <a:defRPr sz="10300">
          <a:solidFill>
            <a:schemeClr val="tx1"/>
          </a:solidFill>
          <a:latin typeface="+mn-lt"/>
        </a:defRPr>
      </a:lvl5pPr>
      <a:lvl6pPr marL="11037888" indent="-1174750" algn="l" defTabSz="4702175" rtl="0" fontAlgn="base">
        <a:spcBef>
          <a:spcPct val="20000"/>
        </a:spcBef>
        <a:spcAft>
          <a:spcPct val="0"/>
        </a:spcAft>
        <a:buChar char="»"/>
        <a:defRPr sz="10300">
          <a:solidFill>
            <a:schemeClr val="tx1"/>
          </a:solidFill>
          <a:latin typeface="+mn-lt"/>
        </a:defRPr>
      </a:lvl6pPr>
      <a:lvl7pPr marL="11495088" indent="-1174750" algn="l" defTabSz="4702175" rtl="0" fontAlgn="base">
        <a:spcBef>
          <a:spcPct val="20000"/>
        </a:spcBef>
        <a:spcAft>
          <a:spcPct val="0"/>
        </a:spcAft>
        <a:buChar char="»"/>
        <a:defRPr sz="10300">
          <a:solidFill>
            <a:schemeClr val="tx1"/>
          </a:solidFill>
          <a:latin typeface="+mn-lt"/>
        </a:defRPr>
      </a:lvl7pPr>
      <a:lvl8pPr marL="11952288" indent="-1174750" algn="l" defTabSz="4702175" rtl="0" fontAlgn="base">
        <a:spcBef>
          <a:spcPct val="20000"/>
        </a:spcBef>
        <a:spcAft>
          <a:spcPct val="0"/>
        </a:spcAft>
        <a:buChar char="»"/>
        <a:defRPr sz="10300">
          <a:solidFill>
            <a:schemeClr val="tx1"/>
          </a:solidFill>
          <a:latin typeface="+mn-lt"/>
        </a:defRPr>
      </a:lvl8pPr>
      <a:lvl9pPr marL="12409488" indent="-1174750" algn="l" defTabSz="4702175" rtl="0" fontAlgn="base">
        <a:spcBef>
          <a:spcPct val="20000"/>
        </a:spcBef>
        <a:spcAft>
          <a:spcPct val="0"/>
        </a:spcAft>
        <a:buChar char="»"/>
        <a:defRPr sz="10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jp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DCE8F4">
                <a:gamma/>
                <a:tint val="0"/>
                <a:invGamma/>
              </a:srgbClr>
            </a:gs>
            <a:gs pos="100000">
              <a:srgbClr val="DCE8F4"/>
            </a:gs>
          </a:gsLst>
          <a:lin ang="5400000" scaled="1"/>
        </a:gradFill>
        <a:effectLst/>
      </p:bgPr>
    </p:bg>
    <p:spTree>
      <p:nvGrpSpPr>
        <p:cNvPr id="1" name=""/>
        <p:cNvGrpSpPr/>
        <p:nvPr/>
      </p:nvGrpSpPr>
      <p:grpSpPr>
        <a:xfrm>
          <a:off x="0" y="0"/>
          <a:ext cx="0" cy="0"/>
          <a:chOff x="0" y="0"/>
          <a:chExt cx="0" cy="0"/>
        </a:xfrm>
      </p:grpSpPr>
      <p:sp>
        <p:nvSpPr>
          <p:cNvPr id="2075" name="Rectangle 27"/>
          <p:cNvSpPr>
            <a:spLocks noChangeArrowheads="1"/>
          </p:cNvSpPr>
          <p:nvPr/>
        </p:nvSpPr>
        <p:spPr bwMode="auto">
          <a:xfrm>
            <a:off x="0" y="0"/>
            <a:ext cx="43891200" cy="4043363"/>
          </a:xfrm>
          <a:prstGeom prst="rect">
            <a:avLst/>
          </a:prstGeom>
          <a:solidFill>
            <a:srgbClr val="001E78"/>
          </a:solidFill>
          <a:ln w="9525">
            <a:noFill/>
            <a:miter lim="800000"/>
            <a:headEnd/>
            <a:tailEnd/>
          </a:ln>
          <a:effectLst/>
        </p:spPr>
        <p:txBody>
          <a:bodyPr wrap="none" anchor="ctr"/>
          <a:lstStyle/>
          <a:p>
            <a:endParaRPr lang="en-US"/>
          </a:p>
        </p:txBody>
      </p:sp>
      <p:sp>
        <p:nvSpPr>
          <p:cNvPr id="2052" name="Rectangle 4"/>
          <p:cNvSpPr>
            <a:spLocks noChangeArrowheads="1"/>
          </p:cNvSpPr>
          <p:nvPr/>
        </p:nvSpPr>
        <p:spPr bwMode="auto">
          <a:xfrm>
            <a:off x="4678569" y="14513"/>
            <a:ext cx="34522228" cy="4020457"/>
          </a:xfrm>
          <a:prstGeom prst="rect">
            <a:avLst/>
          </a:prstGeom>
          <a:gradFill rotWithShape="0">
            <a:gsLst>
              <a:gs pos="0">
                <a:srgbClr val="001E78"/>
              </a:gs>
              <a:gs pos="100000">
                <a:srgbClr val="0066FF"/>
              </a:gs>
            </a:gsLst>
            <a:lin ang="0" scaled="1"/>
          </a:gradFill>
          <a:ln w="9525">
            <a:noFill/>
            <a:miter lim="800000"/>
            <a:headEnd/>
            <a:tailEnd/>
          </a:ln>
          <a:effectLst/>
        </p:spPr>
        <p:txBody>
          <a:bodyPr lIns="137160" tIns="68580" rIns="137160" bIns="68580" anchor="ctr"/>
          <a:lstStyle/>
          <a:p>
            <a:pPr algn="ctr" defTabSz="4703763" eaLnBrk="0" hangingPunct="0"/>
            <a:r>
              <a:rPr lang="en-US" sz="8000" b="1" dirty="0">
                <a:solidFill>
                  <a:srgbClr val="FFFFFF"/>
                </a:solidFill>
                <a:effectLst>
                  <a:outerShdw blurRad="38100" dist="38100" dir="2700000" algn="tl">
                    <a:srgbClr val="000000"/>
                  </a:outerShdw>
                </a:effectLst>
                <a:latin typeface="Trebuchet MS"/>
              </a:rPr>
              <a:t>DOpTC: A Low-Cost Remote Water Quality Monitoring System</a:t>
            </a:r>
          </a:p>
          <a:p>
            <a:pPr algn="ctr" defTabSz="4703763"/>
            <a:r>
              <a:rPr lang="en-US" sz="4800" i="1" dirty="0">
                <a:solidFill>
                  <a:schemeClr val="bg1"/>
                </a:solidFill>
                <a:latin typeface="Trebuchet MS"/>
              </a:rPr>
              <a:t>Mason Leavins, Emma Herndon, Nelson Lau, Victoria Makowski and Dr. J. A. Hauger</a:t>
            </a:r>
            <a:endParaRPr lang="en-US" sz="4800" i="1" dirty="0">
              <a:solidFill>
                <a:schemeClr val="bg1"/>
              </a:solidFill>
              <a:latin typeface="Trebuchet MS" pitchFamily="34" charset="0"/>
            </a:endParaRPr>
          </a:p>
          <a:p>
            <a:pPr algn="ctr" defTabSz="4703763"/>
            <a:r>
              <a:rPr lang="en-US" sz="4800" i="1" dirty="0">
                <a:solidFill>
                  <a:schemeClr val="bg1"/>
                </a:solidFill>
                <a:latin typeface="Trebuchet MS"/>
              </a:rPr>
              <a:t>Department of Physics and Biophysics, Augusta University</a:t>
            </a:r>
          </a:p>
        </p:txBody>
      </p:sp>
      <p:sp>
        <p:nvSpPr>
          <p:cNvPr id="2055" name="Rectangle 7"/>
          <p:cNvSpPr>
            <a:spLocks noChangeArrowheads="1"/>
          </p:cNvSpPr>
          <p:nvPr/>
        </p:nvSpPr>
        <p:spPr bwMode="auto">
          <a:xfrm>
            <a:off x="598892" y="4374994"/>
            <a:ext cx="13325900" cy="1152399"/>
          </a:xfrm>
          <a:prstGeom prst="rect">
            <a:avLst/>
          </a:prstGeom>
          <a:gradFill rotWithShape="0">
            <a:gsLst>
              <a:gs pos="0">
                <a:srgbClr val="001E78"/>
              </a:gs>
              <a:gs pos="100000">
                <a:srgbClr val="0066FF"/>
              </a:gs>
            </a:gsLst>
            <a:lin ang="0" scaled="1"/>
          </a:gradFill>
          <a:ln w="9525">
            <a:noFill/>
            <a:miter lim="800000"/>
            <a:headEnd/>
            <a:tailEnd/>
          </a:ln>
          <a:effectLst>
            <a:outerShdw dist="107763" dir="2700000" algn="ctr" rotWithShape="0">
              <a:schemeClr val="bg2"/>
            </a:outerShdw>
          </a:effectLst>
        </p:spPr>
        <p:txBody>
          <a:bodyPr wrap="none" lIns="137160" tIns="68580" rIns="137160" bIns="68580" anchor="ctr"/>
          <a:lstStyle/>
          <a:p>
            <a:pPr algn="ctr" defTabSz="4703763"/>
            <a:r>
              <a:rPr lang="en-US" sz="5100">
                <a:solidFill>
                  <a:schemeClr val="bg1"/>
                </a:solidFill>
                <a:latin typeface="Trebuchet MS" pitchFamily="34" charset="0"/>
              </a:rPr>
              <a:t>Introduction</a:t>
            </a:r>
          </a:p>
        </p:txBody>
      </p:sp>
      <p:sp>
        <p:nvSpPr>
          <p:cNvPr id="2077" name="Rectangle 29"/>
          <p:cNvSpPr>
            <a:spLocks noChangeArrowheads="1"/>
          </p:cNvSpPr>
          <p:nvPr/>
        </p:nvSpPr>
        <p:spPr bwMode="auto">
          <a:xfrm>
            <a:off x="0" y="31799213"/>
            <a:ext cx="43891200" cy="1119187"/>
          </a:xfrm>
          <a:prstGeom prst="rect">
            <a:avLst/>
          </a:prstGeom>
          <a:gradFill rotWithShape="0">
            <a:gsLst>
              <a:gs pos="0">
                <a:srgbClr val="001E78"/>
              </a:gs>
              <a:gs pos="100000">
                <a:srgbClr val="0066FF"/>
              </a:gs>
            </a:gsLst>
            <a:lin ang="0" scaled="1"/>
          </a:gradFill>
          <a:ln w="9525">
            <a:noFill/>
            <a:miter lim="800000"/>
            <a:headEnd/>
            <a:tailEnd/>
          </a:ln>
          <a:effectLst/>
        </p:spPr>
        <p:txBody>
          <a:bodyPr lIns="137160" tIns="68580" rIns="137160" bIns="68580" anchor="ctr"/>
          <a:lstStyle/>
          <a:p>
            <a:pPr defTabSz="4703763"/>
            <a:endParaRPr lang="en-US">
              <a:solidFill>
                <a:schemeClr val="bg1"/>
              </a:solidFill>
              <a:sym typeface="Symbol" pitchFamily="18" charset="2"/>
            </a:endParaRPr>
          </a:p>
        </p:txBody>
      </p:sp>
      <p:sp>
        <p:nvSpPr>
          <p:cNvPr id="1038" name="Rectangle 14"/>
          <p:cNvSpPr>
            <a:spLocks noChangeArrowheads="1"/>
          </p:cNvSpPr>
          <p:nvPr/>
        </p:nvSpPr>
        <p:spPr bwMode="auto">
          <a:xfrm>
            <a:off x="0" y="0"/>
            <a:ext cx="438912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3" name="Rectangle 13"/>
          <p:cNvSpPr>
            <a:spLocks noChangeArrowheads="1"/>
          </p:cNvSpPr>
          <p:nvPr/>
        </p:nvSpPr>
        <p:spPr bwMode="auto">
          <a:xfrm>
            <a:off x="15295362" y="4362684"/>
            <a:ext cx="13300501" cy="1164964"/>
          </a:xfrm>
          <a:prstGeom prst="rect">
            <a:avLst/>
          </a:prstGeom>
          <a:gradFill rotWithShape="0">
            <a:gsLst>
              <a:gs pos="0">
                <a:srgbClr val="001E78"/>
              </a:gs>
              <a:gs pos="100000">
                <a:srgbClr val="0066FF"/>
              </a:gs>
            </a:gsLst>
            <a:lin ang="0" scaled="1"/>
          </a:gradFill>
          <a:ln w="9525">
            <a:noFill/>
            <a:miter lim="800000"/>
            <a:headEnd/>
            <a:tailEnd/>
          </a:ln>
          <a:effectLst>
            <a:outerShdw dist="107763" dir="2700000" algn="ctr" rotWithShape="0">
              <a:schemeClr val="bg2"/>
            </a:outerShdw>
          </a:effectLst>
        </p:spPr>
        <p:txBody>
          <a:bodyPr wrap="none" lIns="137160" tIns="68580" rIns="137160" bIns="68580" anchor="ctr"/>
          <a:lstStyle/>
          <a:p>
            <a:pPr algn="ctr" defTabSz="4703763"/>
            <a:r>
              <a:rPr lang="en-US" sz="5100" dirty="0">
                <a:solidFill>
                  <a:schemeClr val="bg1"/>
                </a:solidFill>
                <a:latin typeface="Trebuchet MS"/>
              </a:rPr>
              <a:t>Methods &amp; Materials</a:t>
            </a:r>
            <a:endParaRPr lang="en-US" sz="5100" dirty="0">
              <a:solidFill>
                <a:schemeClr val="bg1"/>
              </a:solidFill>
              <a:latin typeface="Trebuchet MS" pitchFamily="34" charset="0"/>
            </a:endParaRPr>
          </a:p>
        </p:txBody>
      </p:sp>
      <p:pic>
        <p:nvPicPr>
          <p:cNvPr id="1035" name="Picture 11" descr="http://orgs.tntech.edu/sme/images/TTU_Logo.jpg"/>
          <p:cNvPicPr>
            <a:picLocks noChangeAspect="1" noChangeArrowheads="1"/>
          </p:cNvPicPr>
          <p:nvPr/>
        </p:nvPicPr>
        <p:blipFill>
          <a:blip r:embed="rId3" cstate="print"/>
          <a:srcRect/>
          <a:stretch>
            <a:fillRect/>
          </a:stretch>
        </p:blipFill>
        <p:spPr bwMode="auto">
          <a:xfrm>
            <a:off x="0" y="0"/>
            <a:ext cx="5155324" cy="4035972"/>
          </a:xfrm>
          <a:prstGeom prst="rect">
            <a:avLst/>
          </a:prstGeom>
          <a:noFill/>
        </p:spPr>
      </p:pic>
      <p:sp>
        <p:nvSpPr>
          <p:cNvPr id="5" name="Rectangle 4"/>
          <p:cNvSpPr/>
          <p:nvPr/>
        </p:nvSpPr>
        <p:spPr bwMode="auto">
          <a:xfrm>
            <a:off x="-4505" y="129599"/>
            <a:ext cx="4833257" cy="380637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2175" rtl="0" eaLnBrk="1" fontAlgn="base" latinLnBrk="0" hangingPunct="1">
              <a:lnSpc>
                <a:spcPct val="100000"/>
              </a:lnSpc>
              <a:spcBef>
                <a:spcPct val="0"/>
              </a:spcBef>
              <a:spcAft>
                <a:spcPct val="0"/>
              </a:spcAft>
              <a:buClrTx/>
              <a:buSzTx/>
              <a:buFontTx/>
              <a:buNone/>
              <a:tabLst/>
            </a:pPr>
            <a:endParaRPr kumimoji="0" lang="en-US" sz="9300" b="0" i="0" u="none" strike="noStrike" cap="none" normalizeH="0" baseline="0">
              <a:ln>
                <a:noFill/>
              </a:ln>
              <a:solidFill>
                <a:schemeClr val="tx1"/>
              </a:solidFill>
              <a:effectLst/>
              <a:latin typeface="Arial" charset="0"/>
            </a:endParaRPr>
          </a:p>
        </p:txBody>
      </p:sp>
      <p:pic>
        <p:nvPicPr>
          <p:cNvPr id="87" name="Picture 449" descr="https://upload.wikimedia.org/wikipedia/en/6/67/Augusta_University_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70" y="372115"/>
            <a:ext cx="5403710" cy="3311952"/>
          </a:xfrm>
          <a:prstGeom prst="rect">
            <a:avLst/>
          </a:prstGeom>
          <a:noFill/>
          <a:extLst>
            <a:ext uri="{909E8E84-426E-40DD-AFC4-6F175D3DCCD1}">
              <a14:hiddenFill xmlns:a14="http://schemas.microsoft.com/office/drawing/2010/main">
                <a:solidFill>
                  <a:srgbClr val="FFFFFF"/>
                </a:solidFill>
              </a14:hiddenFill>
            </a:ext>
          </a:extLst>
        </p:spPr>
      </p:pic>
      <p:sp>
        <p:nvSpPr>
          <p:cNvPr id="108" name="Rectangle 107"/>
          <p:cNvSpPr/>
          <p:nvPr/>
        </p:nvSpPr>
        <p:spPr bwMode="auto">
          <a:xfrm>
            <a:off x="38733624" y="0"/>
            <a:ext cx="5148433" cy="403913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702175" rtl="0" eaLnBrk="1" fontAlgn="base" latinLnBrk="0" hangingPunct="1">
              <a:lnSpc>
                <a:spcPct val="100000"/>
              </a:lnSpc>
              <a:spcBef>
                <a:spcPct val="0"/>
              </a:spcBef>
              <a:spcAft>
                <a:spcPct val="0"/>
              </a:spcAft>
              <a:buClrTx/>
              <a:buSzTx/>
              <a:buFontTx/>
              <a:buNone/>
              <a:tabLst/>
            </a:pPr>
            <a:endParaRPr kumimoji="0" lang="en-US" sz="9300" b="0" i="0" u="none" strike="noStrike" cap="none" normalizeH="0" baseline="0">
              <a:ln>
                <a:noFill/>
              </a:ln>
              <a:solidFill>
                <a:schemeClr val="tx1"/>
              </a:solidFill>
              <a:effectLst/>
              <a:latin typeface="Arial" charset="0"/>
            </a:endParaRPr>
          </a:p>
        </p:txBody>
      </p:sp>
      <p:pic>
        <p:nvPicPr>
          <p:cNvPr id="110" name="Picture 449" descr="https://upload.wikimedia.org/wikipedia/en/6/67/Augusta_University_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73382" y="372566"/>
            <a:ext cx="5403710" cy="3311952"/>
          </a:xfrm>
          <a:prstGeom prst="rect">
            <a:avLst/>
          </a:prstGeom>
          <a:noFill/>
          <a:extLst>
            <a:ext uri="{909E8E84-426E-40DD-AFC4-6F175D3DCCD1}">
              <a14:hiddenFill xmlns:a14="http://schemas.microsoft.com/office/drawing/2010/main">
                <a:solidFill>
                  <a:srgbClr val="FFFFFF"/>
                </a:solidFill>
              </a14:hiddenFill>
            </a:ext>
          </a:extLst>
        </p:spPr>
      </p:pic>
      <p:sp>
        <p:nvSpPr>
          <p:cNvPr id="62" name="Text Box 9"/>
          <p:cNvSpPr txBox="1">
            <a:spLocks noChangeArrowheads="1"/>
          </p:cNvSpPr>
          <p:nvPr/>
        </p:nvSpPr>
        <p:spPr bwMode="auto">
          <a:xfrm>
            <a:off x="612719" y="5806339"/>
            <a:ext cx="13307388" cy="7463582"/>
          </a:xfrm>
          <a:prstGeom prst="rect">
            <a:avLst/>
          </a:prstGeom>
          <a:noFill/>
          <a:ln w="9525">
            <a:noFill/>
            <a:miter lim="800000"/>
            <a:headEnd/>
            <a:tailEnd/>
          </a:ln>
          <a:effectLst/>
        </p:spPr>
        <p:txBody>
          <a:bodyPr wrap="square" lIns="137160" tIns="68580" rIns="137160" bIns="68580" anchor="t">
            <a:spAutoFit/>
          </a:bodyPr>
          <a:lstStyle/>
          <a:p>
            <a:pPr algn="just" defTabSz="4703763">
              <a:spcBef>
                <a:spcPts val="0"/>
              </a:spcBef>
              <a:spcAft>
                <a:spcPts val="0"/>
              </a:spcAft>
            </a:pPr>
            <a:r>
              <a:rPr lang="en-US" sz="3400" dirty="0">
                <a:latin typeface="Arial"/>
                <a:cs typeface="Arial"/>
              </a:rPr>
              <a:t> Water quality monitoring is essential for determining the health of a water system and monitoring anthropogenic pollutants. Current commercial sensors for water quality monitoring are costly and limited in configuration options. Handheld devices typically lack data storage and are generally not useful for long-term remote monitoring. Commercial devices that do offer data storage are generally limited to storing only on the device, meaning data must be manually retrieved.</a:t>
            </a:r>
            <a:endParaRPr lang="en-US" dirty="0">
              <a:cs typeface="Arial" charset="0"/>
            </a:endParaRPr>
          </a:p>
          <a:p>
            <a:pPr algn="just" defTabSz="4703763">
              <a:spcBef>
                <a:spcPts val="0"/>
              </a:spcBef>
              <a:spcAft>
                <a:spcPts val="0"/>
              </a:spcAft>
            </a:pPr>
            <a:r>
              <a:rPr lang="en-US" sz="3400" dirty="0">
                <a:latin typeface="Arial"/>
                <a:cs typeface="Arial"/>
              </a:rPr>
              <a:t> This project set out to develop a device that improves upon these limitations at a lower cost than commercial sensors. Using individual lab-grade chemical probes, a Particle brand microcontroller, and other widely available materials, a deployable device was made that can collect and transmit data remotely via cellular connectivity or long-range radio.</a:t>
            </a:r>
          </a:p>
        </p:txBody>
      </p:sp>
      <p:sp>
        <p:nvSpPr>
          <p:cNvPr id="64" name="Text Box 26"/>
          <p:cNvSpPr txBox="1">
            <a:spLocks noChangeArrowheads="1"/>
          </p:cNvSpPr>
          <p:nvPr/>
        </p:nvSpPr>
        <p:spPr bwMode="auto">
          <a:xfrm>
            <a:off x="607239" y="14476985"/>
            <a:ext cx="13309098" cy="6032421"/>
          </a:xfrm>
          <a:prstGeom prst="rect">
            <a:avLst/>
          </a:prstGeom>
          <a:noFill/>
          <a:ln w="9525">
            <a:noFill/>
            <a:miter lim="800000"/>
            <a:headEnd/>
            <a:tailEnd/>
          </a:ln>
          <a:effectLst/>
        </p:spPr>
        <p:txBody>
          <a:bodyPr wrap="square" lIns="91440" tIns="45720" rIns="91440" bIns="45720" anchor="t">
            <a:spAutoFit/>
          </a:bodyPr>
          <a:lstStyle/>
          <a:p>
            <a:pPr algn="just" defTabSz="4703763">
              <a:buFont typeface="Arial" pitchFamily="34" charset="0"/>
              <a:buChar char="•"/>
            </a:pPr>
            <a:r>
              <a:rPr lang="en-US" sz="3400" dirty="0">
                <a:latin typeface="Arial"/>
                <a:cs typeface="Arial"/>
              </a:rPr>
              <a:t> This research focuses on the development of an alternative device using lab-grade chemical probes from Atlas Scientific connected to a microcontroller. </a:t>
            </a:r>
            <a:endParaRPr lang="en-US" sz="3400" dirty="0">
              <a:cs typeface="Arial"/>
            </a:endParaRPr>
          </a:p>
          <a:p>
            <a:pPr algn="just" defTabSz="4703763">
              <a:buFont typeface="Arial" pitchFamily="34" charset="0"/>
              <a:buChar char="•"/>
            </a:pPr>
            <a:r>
              <a:rPr lang="en-US" sz="3400" dirty="0">
                <a:latin typeface="Arial"/>
                <a:cs typeface="Arial"/>
              </a:rPr>
              <a:t> DOpTC, is an acronym of the values it measures. The probes measure dissolved oxygen (DO), ORP, pH, temperature, and conductivity. A microcontroller is used to communicate with the Atlas Scientific sensors via an I2C protocol. The temperature probe is made by DigiKey and uses Dallas one-wire. </a:t>
            </a:r>
            <a:endParaRPr lang="en-US" sz="3400" dirty="0">
              <a:cs typeface="Arial"/>
            </a:endParaRPr>
          </a:p>
          <a:p>
            <a:pPr algn="just" defTabSz="4703763">
              <a:buFont typeface="Arial" pitchFamily="34" charset="0"/>
              <a:buChar char="•"/>
            </a:pPr>
            <a:endParaRPr lang="en-US" sz="3400" dirty="0">
              <a:cs typeface="Arial" charset="0"/>
            </a:endParaRPr>
          </a:p>
          <a:p>
            <a:pPr algn="just" defTabSz="4703763"/>
            <a:endParaRPr lang="en-US" sz="3200" dirty="0">
              <a:cs typeface="Arial" charset="0"/>
            </a:endParaRPr>
          </a:p>
          <a:p>
            <a:pPr algn="just" defTabSz="4703763">
              <a:buFont typeface="Arial" pitchFamily="34" charset="0"/>
              <a:buChar char="•"/>
            </a:pPr>
            <a:endParaRPr lang="en-US" sz="1800" dirty="0">
              <a:cs typeface="Arial" charset="0"/>
            </a:endParaRPr>
          </a:p>
          <a:p>
            <a:pPr algn="just" defTabSz="4703763">
              <a:buFont typeface="Arial" pitchFamily="34" charset="0"/>
              <a:buChar char="•"/>
            </a:pPr>
            <a:endParaRPr lang="en-US" sz="3000" dirty="0">
              <a:cs typeface="Arial" charset="0"/>
            </a:endParaRPr>
          </a:p>
        </p:txBody>
      </p:sp>
      <p:sp>
        <p:nvSpPr>
          <p:cNvPr id="8" name="Rectangle 13">
            <a:extLst>
              <a:ext uri="{FF2B5EF4-FFF2-40B4-BE49-F238E27FC236}">
                <a16:creationId xmlns:a16="http://schemas.microsoft.com/office/drawing/2014/main" id="{E5190D1F-F305-7AF6-573C-CF32FDF2C4A2}"/>
              </a:ext>
            </a:extLst>
          </p:cNvPr>
          <p:cNvSpPr>
            <a:spLocks noChangeArrowheads="1"/>
          </p:cNvSpPr>
          <p:nvPr/>
        </p:nvSpPr>
        <p:spPr bwMode="auto">
          <a:xfrm>
            <a:off x="587523" y="13222520"/>
            <a:ext cx="13300501" cy="1164964"/>
          </a:xfrm>
          <a:prstGeom prst="rect">
            <a:avLst/>
          </a:prstGeom>
          <a:gradFill rotWithShape="0">
            <a:gsLst>
              <a:gs pos="0">
                <a:srgbClr val="001E78"/>
              </a:gs>
              <a:gs pos="100000">
                <a:srgbClr val="0066FF"/>
              </a:gs>
            </a:gsLst>
            <a:lin ang="0" scaled="1"/>
          </a:gradFill>
          <a:ln w="9525">
            <a:noFill/>
            <a:miter lim="800000"/>
            <a:headEnd/>
            <a:tailEnd/>
          </a:ln>
          <a:effectLst>
            <a:outerShdw dist="107763" dir="2700000" algn="ctr" rotWithShape="0">
              <a:schemeClr val="bg2"/>
            </a:outerShdw>
          </a:effectLst>
        </p:spPr>
        <p:txBody>
          <a:bodyPr wrap="none" lIns="137160" tIns="68580" rIns="137160" bIns="68580" anchor="ctr"/>
          <a:lstStyle/>
          <a:p>
            <a:pPr algn="ctr" defTabSz="4703763"/>
            <a:r>
              <a:rPr lang="en-US" sz="5100">
                <a:solidFill>
                  <a:schemeClr val="bg1"/>
                </a:solidFill>
                <a:latin typeface="Trebuchet MS"/>
              </a:rPr>
              <a:t>Methods &amp; Materials</a:t>
            </a:r>
            <a:endParaRPr lang="en-US" sz="5100">
              <a:solidFill>
                <a:schemeClr val="bg1"/>
              </a:solidFill>
              <a:latin typeface="Trebuchet MS" pitchFamily="34" charset="0"/>
            </a:endParaRPr>
          </a:p>
        </p:txBody>
      </p:sp>
      <p:sp>
        <p:nvSpPr>
          <p:cNvPr id="12" name="Rectangle 13">
            <a:extLst>
              <a:ext uri="{FF2B5EF4-FFF2-40B4-BE49-F238E27FC236}">
                <a16:creationId xmlns:a16="http://schemas.microsoft.com/office/drawing/2014/main" id="{3754D9DD-66DA-BE33-5005-A9F1748201FB}"/>
              </a:ext>
            </a:extLst>
          </p:cNvPr>
          <p:cNvSpPr>
            <a:spLocks noChangeArrowheads="1"/>
          </p:cNvSpPr>
          <p:nvPr/>
        </p:nvSpPr>
        <p:spPr bwMode="auto">
          <a:xfrm>
            <a:off x="29722740" y="4362683"/>
            <a:ext cx="13300501" cy="1164964"/>
          </a:xfrm>
          <a:prstGeom prst="rect">
            <a:avLst/>
          </a:prstGeom>
          <a:gradFill rotWithShape="0">
            <a:gsLst>
              <a:gs pos="0">
                <a:srgbClr val="001E78"/>
              </a:gs>
              <a:gs pos="100000">
                <a:srgbClr val="0066FF"/>
              </a:gs>
            </a:gsLst>
            <a:lin ang="0" scaled="1"/>
          </a:gradFill>
          <a:ln w="9525">
            <a:noFill/>
            <a:miter lim="800000"/>
            <a:headEnd/>
            <a:tailEnd/>
          </a:ln>
          <a:effectLst>
            <a:outerShdw dist="107763" dir="2700000" algn="ctr" rotWithShape="0">
              <a:schemeClr val="bg2"/>
            </a:outerShdw>
          </a:effectLst>
        </p:spPr>
        <p:txBody>
          <a:bodyPr wrap="none" lIns="137160" tIns="68580" rIns="137160" bIns="68580" anchor="ctr"/>
          <a:lstStyle/>
          <a:p>
            <a:pPr algn="ctr" defTabSz="4703763"/>
            <a:r>
              <a:rPr lang="en-US" sz="5100" dirty="0">
                <a:solidFill>
                  <a:schemeClr val="bg1"/>
                </a:solidFill>
                <a:latin typeface="Trebuchet MS"/>
              </a:rPr>
              <a:t>Results</a:t>
            </a:r>
          </a:p>
        </p:txBody>
      </p:sp>
      <p:pic>
        <p:nvPicPr>
          <p:cNvPr id="13" name="Picture 12" descr="A diagram of a cell phone&#10;&#10;AI-generated content may be incorrect.">
            <a:extLst>
              <a:ext uri="{FF2B5EF4-FFF2-40B4-BE49-F238E27FC236}">
                <a16:creationId xmlns:a16="http://schemas.microsoft.com/office/drawing/2014/main" id="{1E7941A3-07A6-FAB6-D0EE-BF885F59765A}"/>
              </a:ext>
            </a:extLst>
          </p:cNvPr>
          <p:cNvPicPr>
            <a:picLocks noChangeAspect="1"/>
          </p:cNvPicPr>
          <p:nvPr/>
        </p:nvPicPr>
        <p:blipFill>
          <a:blip r:embed="rId5"/>
          <a:stretch>
            <a:fillRect/>
          </a:stretch>
        </p:blipFill>
        <p:spPr>
          <a:xfrm>
            <a:off x="607241" y="26271747"/>
            <a:ext cx="8590045" cy="4177189"/>
          </a:xfrm>
          <a:prstGeom prst="rect">
            <a:avLst/>
          </a:prstGeom>
        </p:spPr>
      </p:pic>
      <p:pic>
        <p:nvPicPr>
          <p:cNvPr id="6" name="Picture 5" descr="A close up of a device&#10;&#10;AI-generated content may be incorrect.">
            <a:extLst>
              <a:ext uri="{FF2B5EF4-FFF2-40B4-BE49-F238E27FC236}">
                <a16:creationId xmlns:a16="http://schemas.microsoft.com/office/drawing/2014/main" id="{715677ED-DB4B-E630-5EF6-087950BB0EED}"/>
              </a:ext>
            </a:extLst>
          </p:cNvPr>
          <p:cNvPicPr>
            <a:picLocks noChangeAspect="1"/>
          </p:cNvPicPr>
          <p:nvPr/>
        </p:nvPicPr>
        <p:blipFill>
          <a:blip r:embed="rId6"/>
          <a:srcRect l="9597" t="8551" r="1498" b="2402"/>
          <a:stretch>
            <a:fillRect/>
          </a:stretch>
        </p:blipFill>
        <p:spPr>
          <a:xfrm>
            <a:off x="9416146" y="26271747"/>
            <a:ext cx="4348485" cy="4177189"/>
          </a:xfrm>
          <a:prstGeom prst="rect">
            <a:avLst/>
          </a:prstGeom>
        </p:spPr>
      </p:pic>
      <p:pic>
        <p:nvPicPr>
          <p:cNvPr id="3" name="Picture 2">
            <a:extLst>
              <a:ext uri="{FF2B5EF4-FFF2-40B4-BE49-F238E27FC236}">
                <a16:creationId xmlns:a16="http://schemas.microsoft.com/office/drawing/2014/main" id="{F464E7A5-13B0-E573-5E3A-98A4158304BB}"/>
              </a:ext>
            </a:extLst>
          </p:cNvPr>
          <p:cNvPicPr>
            <a:picLocks noChangeAspect="1"/>
          </p:cNvPicPr>
          <p:nvPr/>
        </p:nvPicPr>
        <p:blipFill>
          <a:blip r:embed="rId7"/>
          <a:srcRect l="818" t="2970" r="738" b="2892"/>
          <a:stretch>
            <a:fillRect/>
          </a:stretch>
        </p:blipFill>
        <p:spPr>
          <a:xfrm>
            <a:off x="29748019" y="6262214"/>
            <a:ext cx="13249938" cy="4220129"/>
          </a:xfrm>
          <a:prstGeom prst="rect">
            <a:avLst/>
          </a:prstGeom>
        </p:spPr>
      </p:pic>
      <p:sp>
        <p:nvSpPr>
          <p:cNvPr id="4" name="Rectangle 3">
            <a:extLst>
              <a:ext uri="{FF2B5EF4-FFF2-40B4-BE49-F238E27FC236}">
                <a16:creationId xmlns:a16="http://schemas.microsoft.com/office/drawing/2014/main" id="{676E7508-5C78-301D-8350-FC00E6E3D2AE}"/>
              </a:ext>
            </a:extLst>
          </p:cNvPr>
          <p:cNvSpPr/>
          <p:nvPr/>
        </p:nvSpPr>
        <p:spPr>
          <a:xfrm>
            <a:off x="1266050" y="30568211"/>
            <a:ext cx="7125404" cy="400110"/>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algn="just"/>
            <a:r>
              <a:rPr lang="en-US" sz="2000" b="1" dirty="0">
                <a:latin typeface="+mj-lt"/>
                <a:cs typeface="Arial"/>
              </a:rPr>
              <a:t>Figure 3. Schematic of Particle cellular communication</a:t>
            </a:r>
          </a:p>
        </p:txBody>
      </p:sp>
      <p:pic>
        <p:nvPicPr>
          <p:cNvPr id="11" name="Picture 10" descr="A close-up of a machine&#10;&#10;AI-generated content may be incorrect.">
            <a:extLst>
              <a:ext uri="{FF2B5EF4-FFF2-40B4-BE49-F238E27FC236}">
                <a16:creationId xmlns:a16="http://schemas.microsoft.com/office/drawing/2014/main" id="{76A7D8CA-B2D2-1F47-E72F-E36E933C8317}"/>
              </a:ext>
            </a:extLst>
          </p:cNvPr>
          <p:cNvPicPr>
            <a:picLocks noChangeAspect="1"/>
          </p:cNvPicPr>
          <p:nvPr/>
        </p:nvPicPr>
        <p:blipFill>
          <a:blip r:embed="rId8"/>
          <a:srcRect l="2096" t="17426" r="23962" b="20608"/>
          <a:stretch>
            <a:fillRect/>
          </a:stretch>
        </p:blipFill>
        <p:spPr>
          <a:xfrm>
            <a:off x="15850285" y="10566544"/>
            <a:ext cx="3220926" cy="3657064"/>
          </a:xfrm>
          <a:prstGeom prst="rect">
            <a:avLst/>
          </a:prstGeom>
        </p:spPr>
      </p:pic>
      <p:pic>
        <p:nvPicPr>
          <p:cNvPr id="14" name="Picture 13" descr="A solar panel with wires and wires on a wooden surface&#10;&#10;AI-generated content may be incorrect.">
            <a:extLst>
              <a:ext uri="{FF2B5EF4-FFF2-40B4-BE49-F238E27FC236}">
                <a16:creationId xmlns:a16="http://schemas.microsoft.com/office/drawing/2014/main" id="{221E745E-E2D3-FE7B-FD43-2B15335C4B7D}"/>
              </a:ext>
            </a:extLst>
          </p:cNvPr>
          <p:cNvPicPr>
            <a:picLocks noChangeAspect="1"/>
          </p:cNvPicPr>
          <p:nvPr/>
        </p:nvPicPr>
        <p:blipFill>
          <a:blip r:embed="rId9"/>
          <a:srcRect l="17151" t="14831" r="9905" b="22369"/>
          <a:stretch>
            <a:fillRect/>
          </a:stretch>
        </p:blipFill>
        <p:spPr>
          <a:xfrm>
            <a:off x="15894593" y="26080758"/>
            <a:ext cx="3758515" cy="4372002"/>
          </a:xfrm>
          <a:prstGeom prst="rect">
            <a:avLst/>
          </a:prstGeom>
        </p:spPr>
      </p:pic>
      <p:sp>
        <p:nvSpPr>
          <p:cNvPr id="17" name="Rectangle 16">
            <a:extLst>
              <a:ext uri="{FF2B5EF4-FFF2-40B4-BE49-F238E27FC236}">
                <a16:creationId xmlns:a16="http://schemas.microsoft.com/office/drawing/2014/main" id="{FB2F237C-9091-5AF5-485E-B33BEF409F13}"/>
              </a:ext>
            </a:extLst>
          </p:cNvPr>
          <p:cNvSpPr/>
          <p:nvPr/>
        </p:nvSpPr>
        <p:spPr>
          <a:xfrm>
            <a:off x="15850285" y="14258920"/>
            <a:ext cx="3220926" cy="707886"/>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algn="just"/>
            <a:r>
              <a:rPr lang="en-US" sz="2000" b="1" dirty="0">
                <a:latin typeface="+mj-lt"/>
                <a:cs typeface="Arial"/>
              </a:rPr>
              <a:t>Figure 5. Modified IP-67 box with power switch</a:t>
            </a:r>
          </a:p>
        </p:txBody>
      </p:sp>
      <p:pic>
        <p:nvPicPr>
          <p:cNvPr id="18" name="Picture 17" descr="Several wires with different colors&#10;&#10;AI-generated content may be incorrect.">
            <a:extLst>
              <a:ext uri="{FF2B5EF4-FFF2-40B4-BE49-F238E27FC236}">
                <a16:creationId xmlns:a16="http://schemas.microsoft.com/office/drawing/2014/main" id="{655F6E5E-0686-0DD2-0573-BBF47C058FCB}"/>
              </a:ext>
            </a:extLst>
          </p:cNvPr>
          <p:cNvPicPr>
            <a:picLocks noChangeAspect="1"/>
          </p:cNvPicPr>
          <p:nvPr/>
        </p:nvPicPr>
        <p:blipFill>
          <a:blip r:embed="rId10"/>
          <a:srcRect l="3353" t="3994" r="3892" b="8970"/>
          <a:stretch>
            <a:fillRect/>
          </a:stretch>
        </p:blipFill>
        <p:spPr>
          <a:xfrm>
            <a:off x="2298690" y="18872447"/>
            <a:ext cx="5433954" cy="3927376"/>
          </a:xfrm>
          <a:prstGeom prst="rect">
            <a:avLst/>
          </a:prstGeom>
        </p:spPr>
      </p:pic>
      <p:pic>
        <p:nvPicPr>
          <p:cNvPr id="21" name="Picture 20" descr="A computer screen shot of a device&#10;&#10;AI-generated content may be incorrect.">
            <a:extLst>
              <a:ext uri="{FF2B5EF4-FFF2-40B4-BE49-F238E27FC236}">
                <a16:creationId xmlns:a16="http://schemas.microsoft.com/office/drawing/2014/main" id="{4C9844F8-502A-9358-B5E0-141DAA94716B}"/>
              </a:ext>
            </a:extLst>
          </p:cNvPr>
          <p:cNvPicPr>
            <a:picLocks noChangeAspect="1"/>
          </p:cNvPicPr>
          <p:nvPr/>
        </p:nvPicPr>
        <p:blipFill>
          <a:blip r:embed="rId11"/>
          <a:srcRect l="2503" t="16798" r="72465" b="4015"/>
          <a:stretch>
            <a:fillRect/>
          </a:stretch>
        </p:blipFill>
        <p:spPr>
          <a:xfrm>
            <a:off x="9460539" y="18866822"/>
            <a:ext cx="2907987" cy="3933001"/>
          </a:xfrm>
          <a:prstGeom prst="rect">
            <a:avLst/>
          </a:prstGeom>
        </p:spPr>
      </p:pic>
      <p:sp>
        <p:nvSpPr>
          <p:cNvPr id="23" name="Rectangle 22">
            <a:extLst>
              <a:ext uri="{FF2B5EF4-FFF2-40B4-BE49-F238E27FC236}">
                <a16:creationId xmlns:a16="http://schemas.microsoft.com/office/drawing/2014/main" id="{EFB1573F-A50E-3C0F-BAB8-0056848853DF}"/>
              </a:ext>
            </a:extLst>
          </p:cNvPr>
          <p:cNvSpPr/>
          <p:nvPr/>
        </p:nvSpPr>
        <p:spPr>
          <a:xfrm>
            <a:off x="2183470" y="22845990"/>
            <a:ext cx="5664393" cy="707886"/>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algn="just"/>
            <a:r>
              <a:rPr lang="en-US" sz="2000" b="1" dirty="0">
                <a:latin typeface="+mj-lt"/>
                <a:cs typeface="Arial"/>
              </a:rPr>
              <a:t>Figure 1. Sensor probes (left to right): Conductivity, ORP, pH, Temperature, DO</a:t>
            </a:r>
          </a:p>
        </p:txBody>
      </p:sp>
      <p:sp>
        <p:nvSpPr>
          <p:cNvPr id="24" name="Rectangle 23">
            <a:extLst>
              <a:ext uri="{FF2B5EF4-FFF2-40B4-BE49-F238E27FC236}">
                <a16:creationId xmlns:a16="http://schemas.microsoft.com/office/drawing/2014/main" id="{8BDF5EB9-83EE-757F-0EE2-AE741FE8CA8F}"/>
              </a:ext>
            </a:extLst>
          </p:cNvPr>
          <p:cNvSpPr/>
          <p:nvPr/>
        </p:nvSpPr>
        <p:spPr>
          <a:xfrm>
            <a:off x="8679235" y="22841681"/>
            <a:ext cx="4470593" cy="707886"/>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algn="just"/>
            <a:r>
              <a:rPr lang="en-US" sz="2000" b="1" dirty="0">
                <a:latin typeface="+mj-lt"/>
                <a:cs typeface="Arial"/>
              </a:rPr>
              <a:t>Figure 2. Atlas Scientific EZO DO circuit on an isolated carrier board</a:t>
            </a:r>
          </a:p>
        </p:txBody>
      </p:sp>
      <p:sp>
        <p:nvSpPr>
          <p:cNvPr id="26" name="Text Box 26">
            <a:extLst>
              <a:ext uri="{FF2B5EF4-FFF2-40B4-BE49-F238E27FC236}">
                <a16:creationId xmlns:a16="http://schemas.microsoft.com/office/drawing/2014/main" id="{D0EF50F2-C3DF-B156-78C0-2839E9AD44AB}"/>
              </a:ext>
            </a:extLst>
          </p:cNvPr>
          <p:cNvSpPr txBox="1">
            <a:spLocks noChangeArrowheads="1"/>
          </p:cNvSpPr>
          <p:nvPr/>
        </p:nvSpPr>
        <p:spPr bwMode="auto">
          <a:xfrm>
            <a:off x="585632" y="23498812"/>
            <a:ext cx="13300500" cy="3447098"/>
          </a:xfrm>
          <a:prstGeom prst="rect">
            <a:avLst/>
          </a:prstGeom>
          <a:noFill/>
          <a:ln w="9525">
            <a:noFill/>
            <a:miter lim="800000"/>
            <a:headEnd/>
            <a:tailEnd/>
          </a:ln>
          <a:effectLst/>
        </p:spPr>
        <p:txBody>
          <a:bodyPr wrap="square" lIns="91440" tIns="45720" rIns="91440" bIns="45720" anchor="t">
            <a:spAutoFit/>
          </a:bodyPr>
          <a:lstStyle/>
          <a:p>
            <a:pPr algn="just" defTabSz="4703763">
              <a:buFont typeface="Arial" pitchFamily="34" charset="0"/>
              <a:buChar char="•"/>
            </a:pPr>
            <a:r>
              <a:rPr lang="en-US" sz="3400" dirty="0">
                <a:latin typeface="Arial"/>
                <a:cs typeface="Arial"/>
              </a:rPr>
              <a:t> Two stand-alone versions were developed. The first uses an Arduino MKR-1310 microcontroller to operate the sensors and transmit data via long-range radio (LoRa). The next uses a Particle Boron board in an equivalent manner with data transmission via a cellular network.  </a:t>
            </a:r>
          </a:p>
          <a:p>
            <a:pPr algn="just" defTabSz="4703763">
              <a:buFont typeface="Arial" pitchFamily="34" charset="0"/>
              <a:buChar char="•"/>
            </a:pPr>
            <a:endParaRPr lang="en-US" sz="1800" dirty="0">
              <a:cs typeface="Arial" charset="0"/>
            </a:endParaRPr>
          </a:p>
          <a:p>
            <a:pPr algn="just" defTabSz="4703763">
              <a:buFont typeface="Arial" pitchFamily="34" charset="0"/>
              <a:buChar char="•"/>
            </a:pPr>
            <a:endParaRPr lang="en-US" sz="3000" dirty="0">
              <a:cs typeface="Arial" charset="0"/>
            </a:endParaRPr>
          </a:p>
        </p:txBody>
      </p:sp>
      <p:sp>
        <p:nvSpPr>
          <p:cNvPr id="9" name="Rectangle 13">
            <a:extLst>
              <a:ext uri="{FF2B5EF4-FFF2-40B4-BE49-F238E27FC236}">
                <a16:creationId xmlns:a16="http://schemas.microsoft.com/office/drawing/2014/main" id="{B2B7F2B3-19A0-0ADD-087D-8DD37FDDA9A8}"/>
              </a:ext>
            </a:extLst>
          </p:cNvPr>
          <p:cNvSpPr>
            <a:spLocks noChangeArrowheads="1"/>
          </p:cNvSpPr>
          <p:nvPr/>
        </p:nvSpPr>
        <p:spPr bwMode="auto">
          <a:xfrm>
            <a:off x="15289432" y="17880422"/>
            <a:ext cx="13300501" cy="1164964"/>
          </a:xfrm>
          <a:prstGeom prst="rect">
            <a:avLst/>
          </a:prstGeom>
          <a:gradFill rotWithShape="0">
            <a:gsLst>
              <a:gs pos="0">
                <a:srgbClr val="001E78"/>
              </a:gs>
              <a:gs pos="100000">
                <a:srgbClr val="0066FF"/>
              </a:gs>
            </a:gsLst>
            <a:lin ang="0" scaled="1"/>
          </a:gradFill>
          <a:ln w="9525">
            <a:noFill/>
            <a:miter lim="800000"/>
            <a:headEnd/>
            <a:tailEnd/>
          </a:ln>
          <a:effectLst>
            <a:outerShdw dist="107763" dir="2700000" algn="ctr" rotWithShape="0">
              <a:schemeClr val="bg2"/>
            </a:outerShdw>
          </a:effectLst>
        </p:spPr>
        <p:txBody>
          <a:bodyPr wrap="none" lIns="137160" tIns="68580" rIns="137160" bIns="68580" anchor="ctr"/>
          <a:lstStyle/>
          <a:p>
            <a:pPr algn="ctr" defTabSz="4703763"/>
            <a:r>
              <a:rPr lang="en-US" sz="5100" dirty="0">
                <a:solidFill>
                  <a:schemeClr val="bg1"/>
                </a:solidFill>
                <a:latin typeface="Trebuchet MS"/>
              </a:rPr>
              <a:t>Results</a:t>
            </a:r>
            <a:endParaRPr lang="en-US" sz="5100" dirty="0">
              <a:solidFill>
                <a:schemeClr val="bg1"/>
              </a:solidFill>
              <a:latin typeface="Trebuchet MS" pitchFamily="34" charset="0"/>
            </a:endParaRPr>
          </a:p>
        </p:txBody>
      </p:sp>
      <p:sp>
        <p:nvSpPr>
          <p:cNvPr id="15" name="TextBox 14">
            <a:extLst>
              <a:ext uri="{FF2B5EF4-FFF2-40B4-BE49-F238E27FC236}">
                <a16:creationId xmlns:a16="http://schemas.microsoft.com/office/drawing/2014/main" id="{61A1CF0F-3027-293F-A829-90AEF80DA8EE}"/>
              </a:ext>
            </a:extLst>
          </p:cNvPr>
          <p:cNvSpPr txBox="1"/>
          <p:nvPr/>
        </p:nvSpPr>
        <p:spPr>
          <a:xfrm>
            <a:off x="15298703" y="5655444"/>
            <a:ext cx="13326672"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just">
              <a:buFont typeface="Arial" panose="020B0604020202020204" pitchFamily="34" charset="0"/>
              <a:buChar char="•"/>
            </a:pPr>
            <a:r>
              <a:rPr lang="en-US" sz="3400" dirty="0">
                <a:cs typeface="Arial"/>
              </a:rPr>
              <a:t>Other key features:</a:t>
            </a:r>
          </a:p>
          <a:p>
            <a:pPr marL="742950" lvl="1" indent="-285750" algn="just">
              <a:buFont typeface="Courier New,monospace"/>
              <a:buChar char="o"/>
            </a:pPr>
            <a:r>
              <a:rPr lang="en-US" sz="3400" dirty="0">
                <a:cs typeface="Arial"/>
              </a:rPr>
              <a:t> Solar panel for sustained battery life</a:t>
            </a:r>
          </a:p>
          <a:p>
            <a:pPr marL="742950" lvl="1" indent="-285750" algn="just">
              <a:buFont typeface="Courier New,monospace"/>
              <a:buChar char="o"/>
            </a:pPr>
            <a:r>
              <a:rPr lang="en-US" sz="3400" dirty="0">
                <a:cs typeface="Arial"/>
              </a:rPr>
              <a:t> Micro SD data backup on device</a:t>
            </a:r>
          </a:p>
          <a:p>
            <a:pPr marL="742950" lvl="1" indent="-285750" algn="just">
              <a:buFont typeface="Courier New,monospace"/>
              <a:buChar char="o"/>
            </a:pPr>
            <a:r>
              <a:rPr lang="en-US" sz="3400" dirty="0">
                <a:cs typeface="Arial"/>
              </a:rPr>
              <a:t> Exterior power switch and LED indicator</a:t>
            </a:r>
          </a:p>
          <a:p>
            <a:pPr marL="742950" lvl="1" indent="-285750" algn="just">
              <a:buFont typeface="Courier New,monospace"/>
              <a:buChar char="o"/>
            </a:pPr>
            <a:r>
              <a:rPr lang="en-US" sz="3400" dirty="0">
                <a:cs typeface="Arial"/>
              </a:rPr>
              <a:t> Weighted 3D printed probe housing</a:t>
            </a:r>
          </a:p>
          <a:p>
            <a:pPr marL="742950" lvl="1" indent="-285750" algn="just">
              <a:buFont typeface="Courier New,monospace"/>
              <a:buChar char="o"/>
            </a:pPr>
            <a:r>
              <a:rPr lang="en-US" sz="3400" dirty="0">
                <a:cs typeface="Arial"/>
              </a:rPr>
              <a:t> Modified IP67 box to house electronics</a:t>
            </a:r>
          </a:p>
          <a:p>
            <a:pPr marL="742950" lvl="1" indent="-285750" algn="just">
              <a:buFont typeface="Courier New,monospace"/>
              <a:buChar char="o"/>
            </a:pPr>
            <a:r>
              <a:rPr lang="en-US" sz="3400" dirty="0">
                <a:cs typeface="Arial"/>
              </a:rPr>
              <a:t> Time and date stamping for data points </a:t>
            </a:r>
          </a:p>
          <a:p>
            <a:pPr marL="0" lvl="1" indent="-457200" algn="just">
              <a:buFont typeface="Arial" panose="020B0604020202020204" pitchFamily="34" charset="0"/>
              <a:buChar char="•"/>
            </a:pPr>
            <a:r>
              <a:rPr lang="en-US" sz="3400" dirty="0">
                <a:cs typeface="Arial"/>
              </a:rPr>
              <a:t>Data is collected at set time intervals and displayed on a dashboard created in ThingSpeak</a:t>
            </a:r>
          </a:p>
        </p:txBody>
      </p:sp>
      <p:sp>
        <p:nvSpPr>
          <p:cNvPr id="7" name="Rectangle 6">
            <a:extLst>
              <a:ext uri="{FF2B5EF4-FFF2-40B4-BE49-F238E27FC236}">
                <a16:creationId xmlns:a16="http://schemas.microsoft.com/office/drawing/2014/main" id="{11C54811-6153-4AA8-8789-5CA56228C75B}"/>
              </a:ext>
            </a:extLst>
          </p:cNvPr>
          <p:cNvSpPr/>
          <p:nvPr/>
        </p:nvSpPr>
        <p:spPr>
          <a:xfrm>
            <a:off x="9455093" y="30521838"/>
            <a:ext cx="4348485" cy="707886"/>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algn="just"/>
            <a:r>
              <a:rPr lang="en-US" sz="2000" b="1" dirty="0">
                <a:latin typeface="+mj-lt"/>
                <a:cs typeface="Arial"/>
              </a:rPr>
              <a:t>Figure 4. Circuit components inside the device housing</a:t>
            </a:r>
          </a:p>
        </p:txBody>
      </p:sp>
      <p:sp>
        <p:nvSpPr>
          <p:cNvPr id="28" name="Rectangle 27">
            <a:extLst>
              <a:ext uri="{FF2B5EF4-FFF2-40B4-BE49-F238E27FC236}">
                <a16:creationId xmlns:a16="http://schemas.microsoft.com/office/drawing/2014/main" id="{A5FC3384-D81D-B68A-6FD9-A509DD987D13}"/>
              </a:ext>
            </a:extLst>
          </p:cNvPr>
          <p:cNvSpPr/>
          <p:nvPr/>
        </p:nvSpPr>
        <p:spPr>
          <a:xfrm>
            <a:off x="20097484" y="13984490"/>
            <a:ext cx="2774921" cy="1015663"/>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algn="just"/>
            <a:r>
              <a:rPr lang="en-US" sz="2000" b="1" dirty="0">
                <a:latin typeface="+mj-lt"/>
                <a:cs typeface="Arial"/>
              </a:rPr>
              <a:t>Figure 6. Probe housing with fishing weights</a:t>
            </a:r>
          </a:p>
        </p:txBody>
      </p:sp>
      <p:sp>
        <p:nvSpPr>
          <p:cNvPr id="30" name="TextBox 29">
            <a:extLst>
              <a:ext uri="{FF2B5EF4-FFF2-40B4-BE49-F238E27FC236}">
                <a16:creationId xmlns:a16="http://schemas.microsoft.com/office/drawing/2014/main" id="{749479F9-A28E-ED23-2E19-90FCCB8FEF61}"/>
              </a:ext>
            </a:extLst>
          </p:cNvPr>
          <p:cNvSpPr txBox="1"/>
          <p:nvPr/>
        </p:nvSpPr>
        <p:spPr>
          <a:xfrm>
            <a:off x="15289803" y="19173304"/>
            <a:ext cx="13309098" cy="7940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457200" algn="just">
              <a:buFont typeface="Arial" panose="020B0604020202020204" pitchFamily="34" charset="0"/>
              <a:buChar char="•"/>
            </a:pPr>
            <a:r>
              <a:rPr lang="en-US" sz="3400" dirty="0">
                <a:cs typeface="Arial"/>
              </a:rPr>
              <a:t>DOpTC has had multiple successful deployments in various locations. Deployment times ranged from hours to several weeks</a:t>
            </a:r>
          </a:p>
          <a:p>
            <a:pPr indent="-457200" algn="just">
              <a:buFont typeface="Arial" panose="020B0604020202020204" pitchFamily="34" charset="0"/>
              <a:buChar char="•"/>
            </a:pPr>
            <a:r>
              <a:rPr lang="en-US" sz="3400" dirty="0">
                <a:cs typeface="Arial"/>
              </a:rPr>
              <a:t>It has been tested on multiple research trips with the Augusta University Biology Department to the Satilla River and Saint Catherine’s Island</a:t>
            </a:r>
          </a:p>
          <a:p>
            <a:pPr indent="-457200" algn="just">
              <a:buFont typeface="Arial" panose="020B0604020202020204" pitchFamily="34" charset="0"/>
              <a:buChar char="•"/>
            </a:pPr>
            <a:r>
              <a:rPr lang="en-US" sz="3400" dirty="0">
                <a:cs typeface="Arial"/>
              </a:rPr>
              <a:t>Long-term data collection was performed at the Augusta Canal</a:t>
            </a:r>
          </a:p>
          <a:p>
            <a:pPr indent="-457200" algn="just">
              <a:buFont typeface="Arial" panose="020B0604020202020204" pitchFamily="34" charset="0"/>
              <a:buChar char="•"/>
            </a:pPr>
            <a:r>
              <a:rPr lang="en-US" sz="3400" dirty="0">
                <a:cs typeface="Arial"/>
              </a:rPr>
              <a:t>Data has been successfully transmitted via cellular network and graphed in an online dashboard accessible by a QR code</a:t>
            </a:r>
          </a:p>
          <a:p>
            <a:pPr indent="-457200" algn="just">
              <a:buFont typeface="Arial" panose="020B0604020202020204" pitchFamily="34" charset="0"/>
              <a:buChar char="•"/>
            </a:pPr>
            <a:r>
              <a:rPr lang="en-US" sz="3400" dirty="0">
                <a:cs typeface="Arial"/>
              </a:rPr>
              <a:t>The data dashboard displays a graph for each parameter measured with values over time. The dashboard and data are open source and update in real time</a:t>
            </a:r>
          </a:p>
          <a:p>
            <a:pPr indent="-457200" algn="just">
              <a:buFont typeface="Arial" panose="020B0604020202020204" pitchFamily="34" charset="0"/>
              <a:buChar char="•"/>
            </a:pPr>
            <a:r>
              <a:rPr lang="en-US" sz="3400" dirty="0">
                <a:cs typeface="Arial"/>
              </a:rPr>
              <a:t>Battery life has not been a limiting factor so far due to the solar panel</a:t>
            </a:r>
          </a:p>
          <a:p>
            <a:pPr marL="457200" indent="-457200" algn="just">
              <a:buFont typeface="Arial" panose="020B0604020202020204" pitchFamily="34" charset="0"/>
              <a:buChar char="•"/>
            </a:pPr>
            <a:endParaRPr lang="en-US" sz="3400" dirty="0">
              <a:cs typeface="Arial"/>
            </a:endParaRPr>
          </a:p>
          <a:p>
            <a:pPr marL="457200" indent="-457200" algn="just">
              <a:buFont typeface="Arial" panose="020B0604020202020204" pitchFamily="34" charset="0"/>
              <a:buChar char="•"/>
            </a:pPr>
            <a:endParaRPr lang="en-US" sz="3400" dirty="0">
              <a:cs typeface="Arial"/>
            </a:endParaRPr>
          </a:p>
        </p:txBody>
      </p:sp>
      <p:sp>
        <p:nvSpPr>
          <p:cNvPr id="31" name="Rectangle 30">
            <a:extLst>
              <a:ext uri="{FF2B5EF4-FFF2-40B4-BE49-F238E27FC236}">
                <a16:creationId xmlns:a16="http://schemas.microsoft.com/office/drawing/2014/main" id="{5621C9BE-D6C6-37BF-DAB0-23F9C0D8FC05}"/>
              </a:ext>
            </a:extLst>
          </p:cNvPr>
          <p:cNvSpPr/>
          <p:nvPr/>
        </p:nvSpPr>
        <p:spPr>
          <a:xfrm>
            <a:off x="16019294" y="30504092"/>
            <a:ext cx="3509111" cy="707886"/>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algn="just"/>
            <a:r>
              <a:rPr lang="en-US" sz="2000" b="1" dirty="0">
                <a:latin typeface="+mj-lt"/>
                <a:cs typeface="Arial"/>
              </a:rPr>
              <a:t>Figure 7. DOpTC on a dock at the Augusta Canal</a:t>
            </a:r>
          </a:p>
        </p:txBody>
      </p:sp>
      <p:sp>
        <p:nvSpPr>
          <p:cNvPr id="32" name="Rectangle 31">
            <a:extLst>
              <a:ext uri="{FF2B5EF4-FFF2-40B4-BE49-F238E27FC236}">
                <a16:creationId xmlns:a16="http://schemas.microsoft.com/office/drawing/2014/main" id="{73B699F4-BFD7-7666-62F0-F2FCB1AEB2FA}"/>
              </a:ext>
            </a:extLst>
          </p:cNvPr>
          <p:cNvSpPr/>
          <p:nvPr/>
        </p:nvSpPr>
        <p:spPr>
          <a:xfrm>
            <a:off x="21693147" y="30675881"/>
            <a:ext cx="6589785" cy="707886"/>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algn="just"/>
            <a:r>
              <a:rPr lang="en-US" sz="2000" b="1" dirty="0">
                <a:latin typeface="+mj-lt"/>
                <a:cs typeface="Arial"/>
              </a:rPr>
              <a:t>Figure 8. Makowski (left) and Herndon (right) deploying DOpTC on a biology research trip</a:t>
            </a:r>
          </a:p>
        </p:txBody>
      </p:sp>
      <p:pic>
        <p:nvPicPr>
          <p:cNvPr id="35" name="Picture 34">
            <a:extLst>
              <a:ext uri="{FF2B5EF4-FFF2-40B4-BE49-F238E27FC236}">
                <a16:creationId xmlns:a16="http://schemas.microsoft.com/office/drawing/2014/main" id="{4E7F2CA5-2387-8C67-1A84-B29B56E1DEF2}"/>
              </a:ext>
            </a:extLst>
          </p:cNvPr>
          <p:cNvPicPr>
            <a:picLocks noChangeAspect="1"/>
          </p:cNvPicPr>
          <p:nvPr/>
        </p:nvPicPr>
        <p:blipFill>
          <a:blip r:embed="rId12" cstate="print">
            <a:extLst>
              <a:ext uri="{28A0092B-C50C-407E-A947-70E740481C1C}">
                <a14:useLocalDpi xmlns:a14="http://schemas.microsoft.com/office/drawing/2010/main" val="0"/>
              </a:ext>
            </a:extLst>
          </a:blip>
          <a:srcRect l="28904" t="24224" b="17949"/>
          <a:stretch>
            <a:fillRect/>
          </a:stretch>
        </p:blipFill>
        <p:spPr>
          <a:xfrm>
            <a:off x="24358206" y="9910047"/>
            <a:ext cx="3757051" cy="4074443"/>
          </a:xfrm>
          <a:prstGeom prst="rect">
            <a:avLst/>
          </a:prstGeom>
        </p:spPr>
      </p:pic>
      <p:pic>
        <p:nvPicPr>
          <p:cNvPr id="37" name="Picture 36">
            <a:extLst>
              <a:ext uri="{FF2B5EF4-FFF2-40B4-BE49-F238E27FC236}">
                <a16:creationId xmlns:a16="http://schemas.microsoft.com/office/drawing/2014/main" id="{59CC965D-3DC2-4BAE-90C7-23C062905CB9}"/>
              </a:ext>
            </a:extLst>
          </p:cNvPr>
          <p:cNvPicPr>
            <a:picLocks noChangeAspect="1"/>
          </p:cNvPicPr>
          <p:nvPr/>
        </p:nvPicPr>
        <p:blipFill>
          <a:blip r:embed="rId13" cstate="print">
            <a:extLst>
              <a:ext uri="{28A0092B-C50C-407E-A947-70E740481C1C}">
                <a14:useLocalDpi xmlns:a14="http://schemas.microsoft.com/office/drawing/2010/main" val="0"/>
              </a:ext>
            </a:extLst>
          </a:blip>
          <a:srcRect l="22106" t="27202" r="10951" b="41753"/>
          <a:stretch>
            <a:fillRect/>
          </a:stretch>
        </p:blipFill>
        <p:spPr>
          <a:xfrm>
            <a:off x="21325944" y="26095940"/>
            <a:ext cx="7324193" cy="4528802"/>
          </a:xfrm>
          <a:prstGeom prst="rect">
            <a:avLst/>
          </a:prstGeom>
        </p:spPr>
      </p:pic>
      <p:sp>
        <p:nvSpPr>
          <p:cNvPr id="44" name="Rectangle 43">
            <a:extLst>
              <a:ext uri="{FF2B5EF4-FFF2-40B4-BE49-F238E27FC236}">
                <a16:creationId xmlns:a16="http://schemas.microsoft.com/office/drawing/2014/main" id="{94890B0D-67D0-AF50-EF44-C378AFA54948}"/>
              </a:ext>
            </a:extLst>
          </p:cNvPr>
          <p:cNvSpPr/>
          <p:nvPr/>
        </p:nvSpPr>
        <p:spPr>
          <a:xfrm>
            <a:off x="23995852" y="14046147"/>
            <a:ext cx="4481758" cy="1015663"/>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algn="just"/>
            <a:r>
              <a:rPr lang="en-US" sz="2000" b="1" dirty="0">
                <a:latin typeface="+mj-lt"/>
                <a:cs typeface="Arial"/>
              </a:rPr>
              <a:t>Figure 7. Specialized DOpTC version attached to the ASV “WIL” at Lake Olmstead in Augusta, GA</a:t>
            </a:r>
          </a:p>
        </p:txBody>
      </p:sp>
      <p:sp>
        <p:nvSpPr>
          <p:cNvPr id="45" name="TextBox 44">
            <a:extLst>
              <a:ext uri="{FF2B5EF4-FFF2-40B4-BE49-F238E27FC236}">
                <a16:creationId xmlns:a16="http://schemas.microsoft.com/office/drawing/2014/main" id="{965E05B6-5C54-3097-0C2E-B7DA10D556E2}"/>
              </a:ext>
            </a:extLst>
          </p:cNvPr>
          <p:cNvSpPr txBox="1"/>
          <p:nvPr/>
        </p:nvSpPr>
        <p:spPr>
          <a:xfrm>
            <a:off x="15289803" y="15021522"/>
            <a:ext cx="13309098" cy="27084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457200" algn="just">
              <a:buFont typeface="Arial" panose="020B0604020202020204" pitchFamily="34" charset="0"/>
              <a:buChar char="•"/>
            </a:pPr>
            <a:r>
              <a:rPr lang="en-US" sz="3400" dirty="0">
                <a:cs typeface="Arial"/>
              </a:rPr>
              <a:t>A specialized version of DOpTC was made to integrate with an autonomous surface vehicle (ASV), known as “WIL”, created by another student researcher</a:t>
            </a:r>
          </a:p>
          <a:p>
            <a:pPr indent="-457200" algn="just">
              <a:buFont typeface="Arial" panose="020B0604020202020204" pitchFamily="34" charset="0"/>
              <a:buChar char="•"/>
            </a:pPr>
            <a:r>
              <a:rPr lang="en-US" sz="3400" dirty="0">
                <a:cs typeface="Arial"/>
              </a:rPr>
              <a:t>Data can be collected in otherwise inaccessible areas and throughout a body of water</a:t>
            </a:r>
          </a:p>
        </p:txBody>
      </p:sp>
      <p:pic>
        <p:nvPicPr>
          <p:cNvPr id="46" name="Picture 45" descr="A close up of a device&#10;&#10;AI-generated content may be incorrect.">
            <a:extLst>
              <a:ext uri="{FF2B5EF4-FFF2-40B4-BE49-F238E27FC236}">
                <a16:creationId xmlns:a16="http://schemas.microsoft.com/office/drawing/2014/main" id="{15F55466-7E6D-8347-B121-9A5E8345C846}"/>
              </a:ext>
            </a:extLst>
          </p:cNvPr>
          <p:cNvPicPr>
            <a:picLocks noChangeAspect="1"/>
          </p:cNvPicPr>
          <p:nvPr/>
        </p:nvPicPr>
        <p:blipFill>
          <a:blip r:embed="rId14"/>
          <a:srcRect t="22227" r="26143" b="28082"/>
          <a:stretch>
            <a:fillRect/>
          </a:stretch>
        </p:blipFill>
        <p:spPr>
          <a:xfrm>
            <a:off x="20372009" y="10562928"/>
            <a:ext cx="2225873" cy="32420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7" name="Rectangle 13">
            <a:extLst>
              <a:ext uri="{FF2B5EF4-FFF2-40B4-BE49-F238E27FC236}">
                <a16:creationId xmlns:a16="http://schemas.microsoft.com/office/drawing/2014/main" id="{A5A65F31-5ACA-6C16-2A48-D9A0AF43D4CB}"/>
              </a:ext>
            </a:extLst>
          </p:cNvPr>
          <p:cNvSpPr>
            <a:spLocks noChangeArrowheads="1"/>
          </p:cNvSpPr>
          <p:nvPr/>
        </p:nvSpPr>
        <p:spPr bwMode="auto">
          <a:xfrm>
            <a:off x="29688859" y="20633400"/>
            <a:ext cx="13309098" cy="1164964"/>
          </a:xfrm>
          <a:prstGeom prst="rect">
            <a:avLst/>
          </a:prstGeom>
          <a:gradFill rotWithShape="0">
            <a:gsLst>
              <a:gs pos="0">
                <a:srgbClr val="001E78"/>
              </a:gs>
              <a:gs pos="100000">
                <a:srgbClr val="0066FF"/>
              </a:gs>
            </a:gsLst>
            <a:lin ang="0" scaled="1"/>
          </a:gradFill>
          <a:ln w="9525">
            <a:noFill/>
            <a:miter lim="800000"/>
            <a:headEnd/>
            <a:tailEnd/>
          </a:ln>
          <a:effectLst>
            <a:outerShdw dist="107763" dir="2700000" algn="ctr" rotWithShape="0">
              <a:schemeClr val="bg2"/>
            </a:outerShdw>
          </a:effectLst>
        </p:spPr>
        <p:txBody>
          <a:bodyPr wrap="none" lIns="137160" tIns="68580" rIns="137160" bIns="68580" anchor="ctr"/>
          <a:lstStyle/>
          <a:p>
            <a:pPr algn="ctr" defTabSz="4703763"/>
            <a:r>
              <a:rPr lang="en-US" sz="5100" dirty="0">
                <a:solidFill>
                  <a:schemeClr val="bg1"/>
                </a:solidFill>
                <a:latin typeface="Trebuchet MS"/>
              </a:rPr>
              <a:t>Acknowledgments</a:t>
            </a:r>
            <a:endParaRPr lang="en-US" sz="5100" dirty="0">
              <a:solidFill>
                <a:schemeClr val="bg1"/>
              </a:solidFill>
              <a:latin typeface="Trebuchet MS" pitchFamily="34" charset="0"/>
            </a:endParaRPr>
          </a:p>
        </p:txBody>
      </p:sp>
      <p:sp>
        <p:nvSpPr>
          <p:cNvPr id="49" name="Text Box 24">
            <a:extLst>
              <a:ext uri="{FF2B5EF4-FFF2-40B4-BE49-F238E27FC236}">
                <a16:creationId xmlns:a16="http://schemas.microsoft.com/office/drawing/2014/main" id="{17E2FF62-6724-2EEE-BEC3-04950DE4C124}"/>
              </a:ext>
            </a:extLst>
          </p:cNvPr>
          <p:cNvSpPr txBox="1">
            <a:spLocks noChangeArrowheads="1"/>
          </p:cNvSpPr>
          <p:nvPr/>
        </p:nvSpPr>
        <p:spPr bwMode="auto">
          <a:xfrm>
            <a:off x="29748019" y="21963559"/>
            <a:ext cx="13295055" cy="7971413"/>
          </a:xfrm>
          <a:prstGeom prst="rect">
            <a:avLst/>
          </a:prstGeom>
          <a:noFill/>
          <a:ln w="9525">
            <a:noFill/>
            <a:miter lim="800000"/>
            <a:headEnd/>
            <a:tailEnd/>
          </a:ln>
          <a:effectLst/>
        </p:spPr>
        <p:txBody>
          <a:bodyPr wrap="square">
            <a:spAutoFit/>
          </a:bodyPr>
          <a:lstStyle>
            <a:defPPr>
              <a:defRPr lang="en-US"/>
            </a:defPPr>
            <a:lvl1pPr algn="l" rtl="0" fontAlgn="base">
              <a:spcBef>
                <a:spcPct val="0"/>
              </a:spcBef>
              <a:spcAft>
                <a:spcPct val="0"/>
              </a:spcAft>
              <a:defRPr sz="9300" kern="1200">
                <a:solidFill>
                  <a:schemeClr val="tx1"/>
                </a:solidFill>
                <a:latin typeface="Arial" charset="0"/>
                <a:ea typeface="+mn-ea"/>
                <a:cs typeface="+mn-cs"/>
              </a:defRPr>
            </a:lvl1pPr>
            <a:lvl2pPr marL="457200" algn="l" rtl="0" fontAlgn="base">
              <a:spcBef>
                <a:spcPct val="0"/>
              </a:spcBef>
              <a:spcAft>
                <a:spcPct val="0"/>
              </a:spcAft>
              <a:defRPr sz="9300" kern="1200">
                <a:solidFill>
                  <a:schemeClr val="tx1"/>
                </a:solidFill>
                <a:latin typeface="Arial" charset="0"/>
                <a:ea typeface="+mn-ea"/>
                <a:cs typeface="+mn-cs"/>
              </a:defRPr>
            </a:lvl2pPr>
            <a:lvl3pPr marL="914400" algn="l" rtl="0" fontAlgn="base">
              <a:spcBef>
                <a:spcPct val="0"/>
              </a:spcBef>
              <a:spcAft>
                <a:spcPct val="0"/>
              </a:spcAft>
              <a:defRPr sz="9300" kern="1200">
                <a:solidFill>
                  <a:schemeClr val="tx1"/>
                </a:solidFill>
                <a:latin typeface="Arial" charset="0"/>
                <a:ea typeface="+mn-ea"/>
                <a:cs typeface="+mn-cs"/>
              </a:defRPr>
            </a:lvl3pPr>
            <a:lvl4pPr marL="1371600" algn="l" rtl="0" fontAlgn="base">
              <a:spcBef>
                <a:spcPct val="0"/>
              </a:spcBef>
              <a:spcAft>
                <a:spcPct val="0"/>
              </a:spcAft>
              <a:defRPr sz="9300" kern="1200">
                <a:solidFill>
                  <a:schemeClr val="tx1"/>
                </a:solidFill>
                <a:latin typeface="Arial" charset="0"/>
                <a:ea typeface="+mn-ea"/>
                <a:cs typeface="+mn-cs"/>
              </a:defRPr>
            </a:lvl4pPr>
            <a:lvl5pPr marL="1828800" algn="l" rtl="0" fontAlgn="base">
              <a:spcBef>
                <a:spcPct val="0"/>
              </a:spcBef>
              <a:spcAft>
                <a:spcPct val="0"/>
              </a:spcAft>
              <a:defRPr sz="9300" kern="1200">
                <a:solidFill>
                  <a:schemeClr val="tx1"/>
                </a:solidFill>
                <a:latin typeface="Arial" charset="0"/>
                <a:ea typeface="+mn-ea"/>
                <a:cs typeface="+mn-cs"/>
              </a:defRPr>
            </a:lvl5pPr>
            <a:lvl6pPr marL="2286000" algn="l" defTabSz="914400" rtl="0" eaLnBrk="1" latinLnBrk="0" hangingPunct="1">
              <a:defRPr sz="9300" kern="1200">
                <a:solidFill>
                  <a:schemeClr val="tx1"/>
                </a:solidFill>
                <a:latin typeface="Arial" charset="0"/>
                <a:ea typeface="+mn-ea"/>
                <a:cs typeface="+mn-cs"/>
              </a:defRPr>
            </a:lvl6pPr>
            <a:lvl7pPr marL="2743200" algn="l" defTabSz="914400" rtl="0" eaLnBrk="1" latinLnBrk="0" hangingPunct="1">
              <a:defRPr sz="9300" kern="1200">
                <a:solidFill>
                  <a:schemeClr val="tx1"/>
                </a:solidFill>
                <a:latin typeface="Arial" charset="0"/>
                <a:ea typeface="+mn-ea"/>
                <a:cs typeface="+mn-cs"/>
              </a:defRPr>
            </a:lvl7pPr>
            <a:lvl8pPr marL="3200400" algn="l" defTabSz="914400" rtl="0" eaLnBrk="1" latinLnBrk="0" hangingPunct="1">
              <a:defRPr sz="9300" kern="1200">
                <a:solidFill>
                  <a:schemeClr val="tx1"/>
                </a:solidFill>
                <a:latin typeface="Arial" charset="0"/>
                <a:ea typeface="+mn-ea"/>
                <a:cs typeface="+mn-cs"/>
              </a:defRPr>
            </a:lvl8pPr>
            <a:lvl9pPr marL="3657600" algn="l" defTabSz="914400" rtl="0" eaLnBrk="1" latinLnBrk="0" hangingPunct="1">
              <a:defRPr sz="9300" kern="1200">
                <a:solidFill>
                  <a:schemeClr val="tx1"/>
                </a:solidFill>
                <a:latin typeface="Arial" charset="0"/>
                <a:ea typeface="+mn-ea"/>
                <a:cs typeface="+mn-cs"/>
              </a:defRPr>
            </a:lvl9pPr>
          </a:lstStyle>
          <a:p>
            <a:pPr algn="just" defTabSz="4703763"/>
            <a:r>
              <a:rPr lang="en-US" sz="3200" dirty="0"/>
              <a:t>We wish to extend our thanks to the following:</a:t>
            </a:r>
          </a:p>
          <a:p>
            <a:pPr marL="457200" indent="-457200" algn="just" defTabSz="4703763">
              <a:buFont typeface="Arial" panose="020B0604020202020204" pitchFamily="34" charset="0"/>
              <a:buChar char="•"/>
            </a:pPr>
            <a:r>
              <a:rPr lang="en-US" sz="3200" dirty="0"/>
              <a:t>Our peers in the AU</a:t>
            </a:r>
            <a:r>
              <a:rPr lang="en-US" sz="3200" baseline="30000" dirty="0"/>
              <a:t>2</a:t>
            </a:r>
            <a:r>
              <a:rPr lang="en-US" sz="3200" dirty="0"/>
              <a:t> lab for their contributions and friendship</a:t>
            </a:r>
          </a:p>
          <a:p>
            <a:pPr marL="457200" indent="-457200" algn="just" defTabSz="4703763">
              <a:buFont typeface="Arial" panose="020B0604020202020204" pitchFamily="34" charset="0"/>
              <a:buChar char="•"/>
            </a:pPr>
            <a:r>
              <a:rPr lang="en-US" sz="3200" dirty="0"/>
              <a:t>Augusta Utilities Department for funding this research</a:t>
            </a:r>
          </a:p>
          <a:p>
            <a:pPr indent="-457200" algn="just" defTabSz="4703763">
              <a:buFont typeface="Arial" panose="020B0604020202020204" pitchFamily="34" charset="0"/>
              <a:buChar char="•"/>
            </a:pPr>
            <a:r>
              <a:rPr lang="en-US" sz="3200" dirty="0"/>
              <a:t>Wes Byne and Dr. Oscar Flite for their roles in bringing this lab from an idea to reality and their years of continued support</a:t>
            </a:r>
          </a:p>
          <a:p>
            <a:pPr indent="-457200" algn="just" defTabSz="4703763">
              <a:buFont typeface="Arial" panose="020B0604020202020204" pitchFamily="34" charset="0"/>
              <a:buChar char="•"/>
            </a:pPr>
            <a:r>
              <a:rPr lang="en-US" sz="3200" dirty="0"/>
              <a:t>Dean Meyer for his help in paper and presentation editing and administrative support</a:t>
            </a:r>
          </a:p>
          <a:p>
            <a:pPr indent="-457200" algn="just" defTabSz="4703763">
              <a:buFont typeface="Arial" panose="020B0604020202020204" pitchFamily="34" charset="0"/>
              <a:buChar char="•"/>
            </a:pPr>
            <a:r>
              <a:rPr lang="en-US" sz="3200" dirty="0"/>
              <a:t>Wesley Cooke, the primary developer of WIL, for his assistance and for allowing DOpTC to integrate with his existing project</a:t>
            </a:r>
          </a:p>
          <a:p>
            <a:pPr indent="-457200" algn="just" defTabSz="4703763">
              <a:buFont typeface="Arial" panose="020B0604020202020204" pitchFamily="34" charset="0"/>
              <a:buChar char="•"/>
            </a:pPr>
            <a:r>
              <a:rPr lang="en-US" sz="3200" dirty="0"/>
              <a:t>Patrick Rimbey, for being our local Particle expert</a:t>
            </a:r>
          </a:p>
          <a:p>
            <a:pPr indent="-457200" algn="just" defTabSz="4703763">
              <a:buFont typeface="Arial" panose="020B0604020202020204" pitchFamily="34" charset="0"/>
              <a:buChar char="•"/>
            </a:pPr>
            <a:r>
              <a:rPr lang="en-US" sz="3200" dirty="0"/>
              <a:t>Dr. Jessica Reichmuth, Francis Marion University, for her role in the biology department and Satilla </a:t>
            </a:r>
            <a:r>
              <a:rPr lang="en-US" sz="3200"/>
              <a:t>river projects</a:t>
            </a:r>
          </a:p>
          <a:p>
            <a:pPr indent="-457200" algn="just" defTabSz="4703763">
              <a:buFont typeface="Arial" panose="020B0604020202020204" pitchFamily="34" charset="0"/>
              <a:buChar char="•"/>
            </a:pPr>
            <a:r>
              <a:rPr lang="en-US" sz="3200"/>
              <a:t>And </a:t>
            </a:r>
            <a:r>
              <a:rPr lang="en-US" sz="3200" dirty="0"/>
              <a:t>finally, Dr. Andrew Hauger for his mentorship, expertise, and energetic spirit. Without him, this family we’ve formed would not have been possible. Thank you for being the coolest old man to ever save the environment.</a:t>
            </a:r>
          </a:p>
        </p:txBody>
      </p:sp>
      <p:pic>
        <p:nvPicPr>
          <p:cNvPr id="54" name="Picture 53">
            <a:extLst>
              <a:ext uri="{FF2B5EF4-FFF2-40B4-BE49-F238E27FC236}">
                <a16:creationId xmlns:a16="http://schemas.microsoft.com/office/drawing/2014/main" id="{65AD980A-1CB9-B474-6EA1-FFB3746A6016}"/>
              </a:ext>
            </a:extLst>
          </p:cNvPr>
          <p:cNvPicPr>
            <a:picLocks noChangeAspect="1"/>
          </p:cNvPicPr>
          <p:nvPr/>
        </p:nvPicPr>
        <p:blipFill>
          <a:blip r:embed="rId15"/>
          <a:stretch>
            <a:fillRect/>
          </a:stretch>
        </p:blipFill>
        <p:spPr>
          <a:xfrm>
            <a:off x="39045374" y="29717744"/>
            <a:ext cx="4025786" cy="1916274"/>
          </a:xfrm>
          <a:prstGeom prst="rect">
            <a:avLst/>
          </a:prstGeom>
        </p:spPr>
      </p:pic>
      <p:sp>
        <p:nvSpPr>
          <p:cNvPr id="55" name="TextBox 54">
            <a:extLst>
              <a:ext uri="{FF2B5EF4-FFF2-40B4-BE49-F238E27FC236}">
                <a16:creationId xmlns:a16="http://schemas.microsoft.com/office/drawing/2014/main" id="{64D273BB-E2EB-8613-76A5-58FBBF4FA94F}"/>
              </a:ext>
            </a:extLst>
          </p:cNvPr>
          <p:cNvSpPr txBox="1"/>
          <p:nvPr/>
        </p:nvSpPr>
        <p:spPr>
          <a:xfrm>
            <a:off x="29748019" y="10765465"/>
            <a:ext cx="13249938" cy="27084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457200" algn="just">
              <a:buFont typeface="Arial" panose="020B0604020202020204" pitchFamily="34" charset="0"/>
              <a:buChar char="•"/>
            </a:pPr>
            <a:r>
              <a:rPr lang="en-US" sz="3400" dirty="0">
                <a:cs typeface="Arial"/>
              </a:rPr>
              <a:t>Measurements taken with DOpTC are comparable to values given by current commercial products</a:t>
            </a:r>
          </a:p>
          <a:p>
            <a:pPr indent="-457200" algn="just">
              <a:buFont typeface="Arial" panose="020B0604020202020204" pitchFamily="34" charset="0"/>
              <a:buChar char="•"/>
            </a:pPr>
            <a:r>
              <a:rPr lang="en-US" sz="3400" dirty="0">
                <a:cs typeface="Arial"/>
              </a:rPr>
              <a:t>The final cost of DOpTC is less than $1,000, with specific price depending on factors such as hose/cable length, microcontroller type, and customization of sensors</a:t>
            </a:r>
          </a:p>
        </p:txBody>
      </p:sp>
      <p:sp>
        <p:nvSpPr>
          <p:cNvPr id="56" name="TextBox 55">
            <a:extLst>
              <a:ext uri="{FF2B5EF4-FFF2-40B4-BE49-F238E27FC236}">
                <a16:creationId xmlns:a16="http://schemas.microsoft.com/office/drawing/2014/main" id="{9D0F4628-5A8D-77B9-9AEA-F3ABCBE42F82}"/>
              </a:ext>
            </a:extLst>
          </p:cNvPr>
          <p:cNvSpPr txBox="1"/>
          <p:nvPr/>
        </p:nvSpPr>
        <p:spPr>
          <a:xfrm>
            <a:off x="29718439" y="5646661"/>
            <a:ext cx="13309098"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3400" u="sng" dirty="0">
                <a:cs typeface="Arial"/>
              </a:rPr>
              <a:t>Table 1. Comparison of Values from DOpTC to a Commercial Device</a:t>
            </a:r>
          </a:p>
        </p:txBody>
      </p:sp>
      <p:sp>
        <p:nvSpPr>
          <p:cNvPr id="58" name="Rectangle 13">
            <a:extLst>
              <a:ext uri="{FF2B5EF4-FFF2-40B4-BE49-F238E27FC236}">
                <a16:creationId xmlns:a16="http://schemas.microsoft.com/office/drawing/2014/main" id="{32CCC251-DCDA-3589-7463-71FFF2159A2B}"/>
              </a:ext>
            </a:extLst>
          </p:cNvPr>
          <p:cNvSpPr>
            <a:spLocks noChangeArrowheads="1"/>
          </p:cNvSpPr>
          <p:nvPr/>
        </p:nvSpPr>
        <p:spPr bwMode="auto">
          <a:xfrm>
            <a:off x="29718439" y="13693964"/>
            <a:ext cx="13300501" cy="1164964"/>
          </a:xfrm>
          <a:prstGeom prst="rect">
            <a:avLst/>
          </a:prstGeom>
          <a:gradFill rotWithShape="0">
            <a:gsLst>
              <a:gs pos="0">
                <a:srgbClr val="001E78"/>
              </a:gs>
              <a:gs pos="100000">
                <a:srgbClr val="0066FF"/>
              </a:gs>
            </a:gsLst>
            <a:lin ang="0" scaled="1"/>
          </a:gradFill>
          <a:ln w="9525">
            <a:noFill/>
            <a:miter lim="800000"/>
            <a:headEnd/>
            <a:tailEnd/>
          </a:ln>
          <a:effectLst>
            <a:outerShdw dist="107763" dir="2700000" algn="ctr" rotWithShape="0">
              <a:schemeClr val="bg2"/>
            </a:outerShdw>
          </a:effectLst>
        </p:spPr>
        <p:txBody>
          <a:bodyPr wrap="none" lIns="137160" tIns="68580" rIns="137160" bIns="68580" anchor="ctr"/>
          <a:lstStyle/>
          <a:p>
            <a:pPr algn="ctr" defTabSz="4703763"/>
            <a:r>
              <a:rPr lang="en-US" sz="5100" dirty="0">
                <a:solidFill>
                  <a:schemeClr val="bg1"/>
                </a:solidFill>
                <a:latin typeface="Trebuchet MS"/>
              </a:rPr>
              <a:t>Conclusion</a:t>
            </a:r>
            <a:endParaRPr lang="en-US" sz="5100" dirty="0">
              <a:solidFill>
                <a:schemeClr val="bg1"/>
              </a:solidFill>
              <a:latin typeface="Trebuchet MS" pitchFamily="34" charset="0"/>
            </a:endParaRPr>
          </a:p>
        </p:txBody>
      </p:sp>
      <p:sp>
        <p:nvSpPr>
          <p:cNvPr id="60" name="TextBox 59">
            <a:extLst>
              <a:ext uri="{FF2B5EF4-FFF2-40B4-BE49-F238E27FC236}">
                <a16:creationId xmlns:a16="http://schemas.microsoft.com/office/drawing/2014/main" id="{9025B5C2-CBE3-B4FB-389C-912B36920059}"/>
              </a:ext>
            </a:extLst>
          </p:cNvPr>
          <p:cNvSpPr txBox="1"/>
          <p:nvPr/>
        </p:nvSpPr>
        <p:spPr>
          <a:xfrm>
            <a:off x="29688859" y="15061309"/>
            <a:ext cx="13309098"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3400" dirty="0">
                <a:cs typeface="Arial"/>
              </a:rPr>
              <a:t>	DOpTC is a water quality monitoring system created to be customizable, repairable, and adaptable. It has successfully completed short- and long-term deployments while transmitting data to an open-source dashboard. The device cost is a fraction of even basic commercial models, with features not available in the current market. </a:t>
            </a:r>
          </a:p>
          <a:p>
            <a:pPr algn="just"/>
            <a:r>
              <a:rPr lang="en-US" sz="3400" dirty="0">
                <a:cs typeface="Arial"/>
              </a:rPr>
              <a:t>	Future work on this project includes substituting the current membrane DO probe for the optical </a:t>
            </a:r>
            <a:r>
              <a:rPr lang="en-US" sz="3400" dirty="0" err="1">
                <a:cs typeface="Arial"/>
              </a:rPr>
              <a:t>DFRobot</a:t>
            </a:r>
            <a:r>
              <a:rPr lang="en-US" sz="3400" dirty="0">
                <a:cs typeface="Arial"/>
              </a:rPr>
              <a:t> probe, improving the code to be more user-friendly, and exploring more effective methods of weighing down the probe housing.</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702175" rtl="0" eaLnBrk="1" fontAlgn="base" latinLnBrk="0" hangingPunct="1">
          <a:lnSpc>
            <a:spcPct val="100000"/>
          </a:lnSpc>
          <a:spcBef>
            <a:spcPct val="0"/>
          </a:spcBef>
          <a:spcAft>
            <a:spcPct val="0"/>
          </a:spcAft>
          <a:buClrTx/>
          <a:buSzTx/>
          <a:buFontTx/>
          <a:buNone/>
          <a:tabLst/>
          <a:defRPr kumimoji="0" lang="en-US" sz="93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702175" rtl="0" eaLnBrk="1" fontAlgn="base" latinLnBrk="0" hangingPunct="1">
          <a:lnSpc>
            <a:spcPct val="100000"/>
          </a:lnSpc>
          <a:spcBef>
            <a:spcPct val="0"/>
          </a:spcBef>
          <a:spcAft>
            <a:spcPct val="0"/>
          </a:spcAft>
          <a:buClrTx/>
          <a:buSzTx/>
          <a:buFontTx/>
          <a:buNone/>
          <a:tabLst/>
          <a:defRPr kumimoji="0" lang="en-US" sz="93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2602</TotalTime>
  <Words>945</Words>
  <Application>Microsoft Office PowerPoint</Application>
  <PresentationFormat>Custom</PresentationFormat>
  <Paragraphs>57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Courier New,monospace</vt:lpstr>
      <vt:lpstr>Symbol</vt:lpstr>
      <vt:lpstr>Trebuchet MS</vt:lpstr>
      <vt:lpstr>Default Design</vt:lpstr>
      <vt:lpstr>PowerPoint Presentation</vt:lpstr>
    </vt:vector>
  </TitlesOfParts>
  <Company>Tennessee Tech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Legislative Week Poster</dc:title>
  <dc:creator>Sri Bharat Madireddy</dc:creator>
  <dc:description>1-800-347-2744</dc:description>
  <cp:lastModifiedBy>Hauger, Joseph</cp:lastModifiedBy>
  <cp:revision>516</cp:revision>
  <dcterms:created xsi:type="dcterms:W3CDTF">2005-06-17T18:14:43Z</dcterms:created>
  <dcterms:modified xsi:type="dcterms:W3CDTF">2026-03-19T20:18:45Z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792637988</vt:i4>
  </property>
  <property fmtid="{D5CDD505-2E9C-101B-9397-08002B2CF9AE}" pid="3" name="_NewReviewCycle">
    <vt:lpwstr/>
  </property>
  <property fmtid="{D5CDD505-2E9C-101B-9397-08002B2CF9AE}" pid="4" name="_EmailSubject">
    <vt:lpwstr>Update to my poster - Bharat</vt:lpwstr>
  </property>
  <property fmtid="{D5CDD505-2E9C-101B-9397-08002B2CF9AE}" pid="5" name="_AuthorEmail">
    <vt:lpwstr>JBoles@tntech.edu</vt:lpwstr>
  </property>
  <property fmtid="{D5CDD505-2E9C-101B-9397-08002B2CF9AE}" pid="6" name="_AuthorEmailDisplayName">
    <vt:lpwstr>Jeffrey Boles</vt:lpwstr>
  </property>
</Properties>
</file>